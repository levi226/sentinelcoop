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6" r:id="rId8"/>
    <p:sldId id="267" r:id="rId9"/>
    <p:sldId id="269" r:id="rId10"/>
    <p:sldId id="271" r:id="rId11"/>
    <p:sldId id="272"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98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 présenter et annoncer le contrat : dans une heure, plus personne ne doit se demander comment il sera noté ni ce qu’il a le droit de faire.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Rappeler que la thématique choisie au dossier est figée. Les deux encadrés du bas répondent aux questions les plus posées pendant la phase de candidature.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Point sensible pour les équipes Track B : elles concourent aux mêmes prix et ne sont pas pénalisées sur l’originalité, mais présenter la solution inchangée est exclu.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Lire les quatre lignes telles quelles. Ce sont les seules règles qui peuvent écarter une équipe avant même la notation.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Relier chaque contrainte au critère faisabilité technique, qui pèse 20 %. L’encart de droite sert à faire comprendre pourquoi ces contraintes existent.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C’est la question la plus posée depuis le lancement de l’appel. Assumer le non : la CIF ne fournit pas de données. Puis retourner l’argument avec l’encadré du bas.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Le chronomètre est tenu. Annoncer qui le tient. Rappeler que la démonstration live est obligatoire, pas optionnelle.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Le cœur de la séance. Lire les six critères et leur poids à voix haute. Préciser que la grille est la même pour les deux tracks.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Nommer les montants sans commentaire. Enchaîner sur le régional, qui est le vrai enjeu pour les lauréats.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Ton ferme mais bref. Donner le nom du référent médiation désigné sur site.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de questions. Noter au tableau ce qui n’est pas tranché en séance et annoncer quand la réponse arrivera.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9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32A849"/>
          </a:solidFill>
          <a:ln/>
        </p:spPr>
      </p:sp>
      <p:sp>
        <p:nvSpPr>
          <p:cNvPr id="3" name="Shape 1"/>
          <p:cNvSpPr/>
          <p:nvPr/>
        </p:nvSpPr>
        <p:spPr>
          <a:xfrm>
            <a:off x="0" y="310896"/>
            <a:ext cx="4023360" cy="109728"/>
          </a:xfrm>
          <a:prstGeom prst="rect">
            <a:avLst/>
          </a:prstGeom>
          <a:solidFill>
            <a:srgbClr val="E8B305"/>
          </a:solidFill>
          <a:ln/>
        </p:spPr>
      </p:sp>
      <p:sp>
        <p:nvSpPr>
          <p:cNvPr id="4" name="Shape 2"/>
          <p:cNvSpPr/>
          <p:nvPr/>
        </p:nvSpPr>
        <p:spPr>
          <a:xfrm>
            <a:off x="4023360" y="310896"/>
            <a:ext cx="2377440" cy="109728"/>
          </a:xfrm>
          <a:prstGeom prst="rect">
            <a:avLst/>
          </a:prstGeom>
          <a:solidFill>
            <a:srgbClr val="B51F24"/>
          </a:solidFill>
          <a:ln/>
        </p:spPr>
      </p:sp>
      <p:sp>
        <p:nvSpPr>
          <p:cNvPr id="5" name="Text 3"/>
          <p:cNvSpPr/>
          <p:nvPr/>
        </p:nvSpPr>
        <p:spPr>
          <a:xfrm>
            <a:off x="822960" y="1051560"/>
            <a:ext cx="10515600" cy="365760"/>
          </a:xfrm>
          <a:prstGeom prst="rect">
            <a:avLst/>
          </a:prstGeom>
          <a:noFill/>
          <a:ln/>
        </p:spPr>
        <p:txBody>
          <a:bodyPr wrap="square" lIns="0" tIns="0" rIns="0" bIns="0" rtlCol="0" anchor="ctr"/>
          <a:lstStyle/>
          <a:p>
            <a:pPr marL="0" indent="0">
              <a:buNone/>
            </a:pPr>
            <a:r>
              <a:rPr lang="en-US" sz="1300" b="1" kern="0" spc="240" dirty="0">
                <a:solidFill>
                  <a:srgbClr val="32A849"/>
                </a:solidFill>
                <a:latin typeface="Century Gothic" pitchFamily="34" charset="0"/>
                <a:ea typeface="Century Gothic" pitchFamily="34" charset="-122"/>
                <a:cs typeface="Century Gothic" pitchFamily="34" charset="-120"/>
              </a:rPr>
              <a:t>HACKATHONS NATIONAUX D’INNOVATION CIF</a:t>
            </a:r>
            <a:endParaRPr lang="en-US" sz="1300" dirty="0"/>
          </a:p>
        </p:txBody>
      </p:sp>
      <p:sp>
        <p:nvSpPr>
          <p:cNvPr id="6" name="Text 4"/>
          <p:cNvSpPr/>
          <p:nvPr/>
        </p:nvSpPr>
        <p:spPr>
          <a:xfrm>
            <a:off x="822960" y="1517904"/>
            <a:ext cx="10515600" cy="1371600"/>
          </a:xfrm>
          <a:prstGeom prst="rect">
            <a:avLst/>
          </a:prstGeom>
          <a:noFill/>
          <a:ln/>
        </p:spPr>
        <p:txBody>
          <a:bodyPr wrap="square" lIns="0" tIns="0" rIns="0" bIns="0" rtlCol="0" anchor="ctr"/>
          <a:lstStyle/>
          <a:p>
            <a:pPr marL="0" indent="0">
              <a:buNone/>
            </a:pPr>
            <a:r>
              <a:rPr lang="en-US" sz="6000" b="1" dirty="0">
                <a:solidFill>
                  <a:srgbClr val="FFFFFF"/>
                </a:solidFill>
                <a:latin typeface="Century Gothic" pitchFamily="34" charset="0"/>
                <a:ea typeface="Century Gothic" pitchFamily="34" charset="-122"/>
                <a:cs typeface="Century Gothic" pitchFamily="34" charset="-120"/>
              </a:rPr>
              <a:t>Les règles du jeu</a:t>
            </a:r>
            <a:endParaRPr lang="en-US" sz="6000" dirty="0"/>
          </a:p>
        </p:txBody>
      </p:sp>
      <p:sp>
        <p:nvSpPr>
          <p:cNvPr id="7" name="Text 5"/>
          <p:cNvSpPr/>
          <p:nvPr/>
        </p:nvSpPr>
        <p:spPr>
          <a:xfrm>
            <a:off x="822960" y="2889504"/>
            <a:ext cx="9509760" cy="457200"/>
          </a:xfrm>
          <a:prstGeom prst="rect">
            <a:avLst/>
          </a:prstGeom>
          <a:noFill/>
          <a:ln/>
        </p:spPr>
        <p:txBody>
          <a:bodyPr wrap="square" lIns="0" tIns="0" rIns="0" bIns="0" rtlCol="0" anchor="ctr"/>
          <a:lstStyle/>
          <a:p>
            <a:pPr marL="0" indent="0">
              <a:buNone/>
            </a:pPr>
            <a:r>
              <a:rPr lang="en-US" sz="1900" dirty="0">
                <a:solidFill>
                  <a:srgbClr val="C6D2EC"/>
                </a:solidFill>
                <a:latin typeface="Calibri" pitchFamily="34" charset="0"/>
                <a:ea typeface="Calibri" pitchFamily="34" charset="-122"/>
                <a:cs typeface="Calibri" pitchFamily="34" charset="-120"/>
              </a:rPr>
              <a:t>Ce que vous devez savoir avant de commencer les 72 heures</a:t>
            </a:r>
            <a:endParaRPr lang="en-US" sz="1900" dirty="0"/>
          </a:p>
        </p:txBody>
      </p:sp>
      <p:sp>
        <p:nvSpPr>
          <p:cNvPr id="8" name="Shape 6"/>
          <p:cNvSpPr/>
          <p:nvPr/>
        </p:nvSpPr>
        <p:spPr>
          <a:xfrm>
            <a:off x="822960" y="3584448"/>
            <a:ext cx="2011680" cy="45720"/>
          </a:xfrm>
          <a:prstGeom prst="rect">
            <a:avLst/>
          </a:prstGeom>
          <a:solidFill>
            <a:srgbClr val="E8B305"/>
          </a:solidFill>
          <a:ln/>
        </p:spPr>
      </p:sp>
      <p:sp>
        <p:nvSpPr>
          <p:cNvPr id="9" name="Text 7"/>
          <p:cNvSpPr/>
          <p:nvPr/>
        </p:nvSpPr>
        <p:spPr>
          <a:xfrm>
            <a:off x="822960" y="3968496"/>
            <a:ext cx="2468880" cy="841248"/>
          </a:xfrm>
          <a:prstGeom prst="rect">
            <a:avLst/>
          </a:prstGeom>
          <a:noFill/>
          <a:ln/>
        </p:spPr>
        <p:txBody>
          <a:bodyPr wrap="square" lIns="0" tIns="0" rIns="0" bIns="0" rtlCol="0" anchor="ctr"/>
          <a:lstStyle/>
          <a:p>
            <a:pPr marL="0" indent="0">
              <a:buNone/>
            </a:pPr>
            <a:r>
              <a:rPr lang="en-US" sz="4600" b="1" dirty="0">
                <a:solidFill>
                  <a:srgbClr val="E8B305"/>
                </a:solidFill>
                <a:latin typeface="Century Gothic" pitchFamily="34" charset="0"/>
                <a:ea typeface="Century Gothic" pitchFamily="34" charset="-122"/>
                <a:cs typeface="Century Gothic" pitchFamily="34" charset="-120"/>
              </a:rPr>
              <a:t>72</a:t>
            </a:r>
            <a:endParaRPr lang="en-US" sz="4600" dirty="0"/>
          </a:p>
        </p:txBody>
      </p:sp>
      <p:sp>
        <p:nvSpPr>
          <p:cNvPr id="10" name="Text 8"/>
          <p:cNvSpPr/>
          <p:nvPr/>
        </p:nvSpPr>
        <p:spPr>
          <a:xfrm>
            <a:off x="822960" y="4809744"/>
            <a:ext cx="2468880" cy="274320"/>
          </a:xfrm>
          <a:prstGeom prst="rect">
            <a:avLst/>
          </a:prstGeom>
          <a:noFill/>
          <a:ln/>
        </p:spPr>
        <p:txBody>
          <a:bodyPr wrap="square" lIns="0" tIns="0" rIns="0" bIns="0"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heures</a:t>
            </a:r>
            <a:endParaRPr lang="en-US" sz="1400" dirty="0"/>
          </a:p>
        </p:txBody>
      </p:sp>
      <p:sp>
        <p:nvSpPr>
          <p:cNvPr id="11" name="Text 9"/>
          <p:cNvSpPr/>
          <p:nvPr/>
        </p:nvSpPr>
        <p:spPr>
          <a:xfrm>
            <a:off x="822960" y="5084064"/>
            <a:ext cx="2468880" cy="274320"/>
          </a:xfrm>
          <a:prstGeom prst="rect">
            <a:avLst/>
          </a:prstGeom>
          <a:noFill/>
          <a:ln/>
        </p:spPr>
        <p:txBody>
          <a:bodyPr wrap="square" lIns="0" tIns="0" rIns="0" bIns="0" rtlCol="0" anchor="ctr"/>
          <a:lstStyle/>
          <a:p>
            <a:pPr marL="0" indent="0">
              <a:buNone/>
            </a:pPr>
            <a:r>
              <a:rPr lang="en-US" sz="1200" dirty="0">
                <a:solidFill>
                  <a:srgbClr val="9FB2D8"/>
                </a:solidFill>
                <a:latin typeface="Calibri" pitchFamily="34" charset="0"/>
                <a:ea typeface="Calibri" pitchFamily="34" charset="-122"/>
                <a:cs typeface="Calibri" pitchFamily="34" charset="-120"/>
              </a:rPr>
              <a:t>de compétition</a:t>
            </a:r>
            <a:endParaRPr lang="en-US" sz="1200" dirty="0"/>
          </a:p>
        </p:txBody>
      </p:sp>
      <p:sp>
        <p:nvSpPr>
          <p:cNvPr id="12" name="Text 10"/>
          <p:cNvSpPr/>
          <p:nvPr/>
        </p:nvSpPr>
        <p:spPr>
          <a:xfrm>
            <a:off x="3520440" y="3968496"/>
            <a:ext cx="2468880" cy="841248"/>
          </a:xfrm>
          <a:prstGeom prst="rect">
            <a:avLst/>
          </a:prstGeom>
          <a:noFill/>
          <a:ln/>
        </p:spPr>
        <p:txBody>
          <a:bodyPr wrap="square" lIns="0" tIns="0" rIns="0" bIns="0" rtlCol="0" anchor="ctr"/>
          <a:lstStyle/>
          <a:p>
            <a:pPr marL="0" indent="0">
              <a:buNone/>
            </a:pPr>
            <a:r>
              <a:rPr lang="en-US" sz="4600" b="1" dirty="0">
                <a:solidFill>
                  <a:srgbClr val="E8B305"/>
                </a:solidFill>
                <a:latin typeface="Century Gothic" pitchFamily="34" charset="0"/>
                <a:ea typeface="Century Gothic" pitchFamily="34" charset="-122"/>
                <a:cs typeface="Century Gothic" pitchFamily="34" charset="-120"/>
              </a:rPr>
              <a:t>2</a:t>
            </a:r>
            <a:endParaRPr lang="en-US" sz="4600" dirty="0"/>
          </a:p>
        </p:txBody>
      </p:sp>
      <p:sp>
        <p:nvSpPr>
          <p:cNvPr id="13" name="Text 11"/>
          <p:cNvSpPr/>
          <p:nvPr/>
        </p:nvSpPr>
        <p:spPr>
          <a:xfrm>
            <a:off x="3520440" y="4809744"/>
            <a:ext cx="2468880" cy="274320"/>
          </a:xfrm>
          <a:prstGeom prst="rect">
            <a:avLst/>
          </a:prstGeom>
          <a:noFill/>
          <a:ln/>
        </p:spPr>
        <p:txBody>
          <a:bodyPr wrap="square" lIns="0" tIns="0" rIns="0" bIns="0"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thématiques</a:t>
            </a:r>
            <a:endParaRPr lang="en-US" sz="1400" dirty="0"/>
          </a:p>
        </p:txBody>
      </p:sp>
      <p:sp>
        <p:nvSpPr>
          <p:cNvPr id="14" name="Text 12"/>
          <p:cNvSpPr/>
          <p:nvPr/>
        </p:nvSpPr>
        <p:spPr>
          <a:xfrm>
            <a:off x="3520440" y="5084064"/>
            <a:ext cx="2468880" cy="274320"/>
          </a:xfrm>
          <a:prstGeom prst="rect">
            <a:avLst/>
          </a:prstGeom>
          <a:noFill/>
          <a:ln/>
        </p:spPr>
        <p:txBody>
          <a:bodyPr wrap="square" lIns="0" tIns="0" rIns="0" bIns="0" rtlCol="0" anchor="ctr"/>
          <a:lstStyle/>
          <a:p>
            <a:pPr marL="0" indent="0">
              <a:buNone/>
            </a:pPr>
            <a:r>
              <a:rPr lang="en-US" sz="1200" dirty="0">
                <a:solidFill>
                  <a:srgbClr val="9FB2D8"/>
                </a:solidFill>
                <a:latin typeface="Calibri" pitchFamily="34" charset="0"/>
                <a:ea typeface="Calibri" pitchFamily="34" charset="-122"/>
                <a:cs typeface="Calibri" pitchFamily="34" charset="-120"/>
              </a:rPr>
              <a:t>PPE et scoring</a:t>
            </a:r>
            <a:endParaRPr lang="en-US" sz="1200" dirty="0"/>
          </a:p>
        </p:txBody>
      </p:sp>
      <p:sp>
        <p:nvSpPr>
          <p:cNvPr id="15" name="Text 13"/>
          <p:cNvSpPr/>
          <p:nvPr/>
        </p:nvSpPr>
        <p:spPr>
          <a:xfrm>
            <a:off x="6217920" y="3968496"/>
            <a:ext cx="2468880" cy="841248"/>
          </a:xfrm>
          <a:prstGeom prst="rect">
            <a:avLst/>
          </a:prstGeom>
          <a:noFill/>
          <a:ln/>
        </p:spPr>
        <p:txBody>
          <a:bodyPr wrap="square" lIns="0" tIns="0" rIns="0" bIns="0" rtlCol="0" anchor="ctr"/>
          <a:lstStyle/>
          <a:p>
            <a:pPr marL="0" indent="0">
              <a:buNone/>
            </a:pPr>
            <a:r>
              <a:rPr lang="en-US" sz="4600" b="1" dirty="0">
                <a:solidFill>
                  <a:srgbClr val="E8B305"/>
                </a:solidFill>
                <a:latin typeface="Century Gothic" pitchFamily="34" charset="0"/>
                <a:ea typeface="Century Gothic" pitchFamily="34" charset="-122"/>
                <a:cs typeface="Century Gothic" pitchFamily="34" charset="-120"/>
              </a:rPr>
              <a:t>6</a:t>
            </a:r>
            <a:endParaRPr lang="en-US" sz="4600" dirty="0"/>
          </a:p>
        </p:txBody>
      </p:sp>
      <p:sp>
        <p:nvSpPr>
          <p:cNvPr id="16" name="Text 14"/>
          <p:cNvSpPr/>
          <p:nvPr/>
        </p:nvSpPr>
        <p:spPr>
          <a:xfrm>
            <a:off x="6217920" y="4809744"/>
            <a:ext cx="2468880" cy="274320"/>
          </a:xfrm>
          <a:prstGeom prst="rect">
            <a:avLst/>
          </a:prstGeom>
          <a:noFill/>
          <a:ln/>
        </p:spPr>
        <p:txBody>
          <a:bodyPr wrap="square" lIns="0" tIns="0" rIns="0" bIns="0"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critères</a:t>
            </a:r>
            <a:endParaRPr lang="en-US" sz="1400" dirty="0"/>
          </a:p>
        </p:txBody>
      </p:sp>
      <p:sp>
        <p:nvSpPr>
          <p:cNvPr id="17" name="Text 15"/>
          <p:cNvSpPr/>
          <p:nvPr/>
        </p:nvSpPr>
        <p:spPr>
          <a:xfrm>
            <a:off x="6217920" y="5084064"/>
            <a:ext cx="2468880" cy="274320"/>
          </a:xfrm>
          <a:prstGeom prst="rect">
            <a:avLst/>
          </a:prstGeom>
          <a:noFill/>
          <a:ln/>
        </p:spPr>
        <p:txBody>
          <a:bodyPr wrap="square" lIns="0" tIns="0" rIns="0" bIns="0" rtlCol="0" anchor="ctr"/>
          <a:lstStyle/>
          <a:p>
            <a:pPr marL="0" indent="0">
              <a:buNone/>
            </a:pPr>
            <a:r>
              <a:rPr lang="en-US" sz="1200" dirty="0">
                <a:solidFill>
                  <a:srgbClr val="9FB2D8"/>
                </a:solidFill>
                <a:latin typeface="Calibri" pitchFamily="34" charset="0"/>
                <a:ea typeface="Calibri" pitchFamily="34" charset="-122"/>
                <a:cs typeface="Calibri" pitchFamily="34" charset="-120"/>
              </a:rPr>
              <a:t>de notation</a:t>
            </a:r>
            <a:endParaRPr lang="en-US" sz="1200" dirty="0"/>
          </a:p>
        </p:txBody>
      </p:sp>
      <p:sp>
        <p:nvSpPr>
          <p:cNvPr id="18" name="Text 16"/>
          <p:cNvSpPr/>
          <p:nvPr/>
        </p:nvSpPr>
        <p:spPr>
          <a:xfrm>
            <a:off x="8915400" y="3968496"/>
            <a:ext cx="2468880" cy="841248"/>
          </a:xfrm>
          <a:prstGeom prst="rect">
            <a:avLst/>
          </a:prstGeom>
          <a:noFill/>
          <a:ln/>
        </p:spPr>
        <p:txBody>
          <a:bodyPr wrap="square" lIns="0" tIns="0" rIns="0" bIns="0" rtlCol="0" anchor="ctr"/>
          <a:lstStyle/>
          <a:p>
            <a:pPr marL="0" indent="0">
              <a:buNone/>
            </a:pPr>
            <a:r>
              <a:rPr lang="en-US" sz="4600" b="1" dirty="0">
                <a:solidFill>
                  <a:srgbClr val="E8B305"/>
                </a:solidFill>
                <a:latin typeface="Century Gothic" pitchFamily="34" charset="0"/>
                <a:ea typeface="Century Gothic" pitchFamily="34" charset="-122"/>
                <a:cs typeface="Century Gothic" pitchFamily="34" charset="-120"/>
              </a:rPr>
              <a:t>10</a:t>
            </a:r>
            <a:endParaRPr lang="en-US" sz="4600" dirty="0"/>
          </a:p>
        </p:txBody>
      </p:sp>
      <p:sp>
        <p:nvSpPr>
          <p:cNvPr id="19" name="Text 17"/>
          <p:cNvSpPr/>
          <p:nvPr/>
        </p:nvSpPr>
        <p:spPr>
          <a:xfrm>
            <a:off x="8915400" y="4809744"/>
            <a:ext cx="2468880" cy="274320"/>
          </a:xfrm>
          <a:prstGeom prst="rect">
            <a:avLst/>
          </a:prstGeom>
          <a:noFill/>
          <a:ln/>
        </p:spPr>
        <p:txBody>
          <a:bodyPr wrap="square" lIns="0" tIns="0" rIns="0" bIns="0"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minutes</a:t>
            </a:r>
            <a:endParaRPr lang="en-US" sz="1400" dirty="0"/>
          </a:p>
        </p:txBody>
      </p:sp>
      <p:sp>
        <p:nvSpPr>
          <p:cNvPr id="20" name="Text 18"/>
          <p:cNvSpPr/>
          <p:nvPr/>
        </p:nvSpPr>
        <p:spPr>
          <a:xfrm>
            <a:off x="8915400" y="5084064"/>
            <a:ext cx="2468880" cy="274320"/>
          </a:xfrm>
          <a:prstGeom prst="rect">
            <a:avLst/>
          </a:prstGeom>
          <a:noFill/>
          <a:ln/>
        </p:spPr>
        <p:txBody>
          <a:bodyPr wrap="square" lIns="0" tIns="0" rIns="0" bIns="0" rtlCol="0" anchor="ctr"/>
          <a:lstStyle/>
          <a:p>
            <a:pPr marL="0" indent="0">
              <a:buNone/>
            </a:pPr>
            <a:r>
              <a:rPr lang="en-US" sz="1200" dirty="0">
                <a:solidFill>
                  <a:srgbClr val="9FB2D8"/>
                </a:solidFill>
                <a:latin typeface="Calibri" pitchFamily="34" charset="0"/>
                <a:ea typeface="Calibri" pitchFamily="34" charset="-122"/>
                <a:cs typeface="Calibri" pitchFamily="34" charset="-120"/>
              </a:rPr>
              <a:t>pour convaincre</a:t>
            </a:r>
            <a:endParaRPr lang="en-US" sz="1200" dirty="0"/>
          </a:p>
        </p:txBody>
      </p:sp>
      <p:sp>
        <p:nvSpPr>
          <p:cNvPr id="21" name="Shape 19"/>
          <p:cNvSpPr/>
          <p:nvPr/>
        </p:nvSpPr>
        <p:spPr>
          <a:xfrm>
            <a:off x="0" y="5943600"/>
            <a:ext cx="12191695" cy="914400"/>
          </a:xfrm>
          <a:prstGeom prst="rect">
            <a:avLst/>
          </a:prstGeom>
          <a:solidFill>
            <a:srgbClr val="0F1F45"/>
          </a:solidFill>
          <a:ln/>
        </p:spPr>
      </p:sp>
      <p:sp>
        <p:nvSpPr>
          <p:cNvPr id="22" name="Text 20"/>
          <p:cNvSpPr/>
          <p:nvPr/>
        </p:nvSpPr>
        <p:spPr>
          <a:xfrm>
            <a:off x="822960" y="5943600"/>
            <a:ext cx="8046720" cy="914400"/>
          </a:xfrm>
          <a:prstGeom prst="rect">
            <a:avLst/>
          </a:prstGeom>
          <a:noFill/>
          <a:ln/>
        </p:spPr>
        <p:txBody>
          <a:bodyPr wrap="square" lIns="0" tIns="0" rIns="0" bIns="0" rtlCol="0" anchor="ctr"/>
          <a:lstStyle/>
          <a:p>
            <a:pPr marL="0" indent="0">
              <a:buNone/>
            </a:pPr>
            <a:r>
              <a:rPr lang="en-US" sz="1350" dirty="0">
                <a:solidFill>
                  <a:srgbClr val="C6D2EC"/>
                </a:solidFill>
                <a:latin typeface="Calibri" pitchFamily="34" charset="0"/>
                <a:ea typeface="Calibri" pitchFamily="34" charset="-122"/>
                <a:cs typeface="Calibri" pitchFamily="34" charset="-120"/>
              </a:rPr>
              <a:t>Projet DigiCoop-WA+  ·  Burkina Faso, Sénégal, Togo, Bénin, Mali  ·  Édition 2026</a:t>
            </a:r>
            <a:endParaRPr lang="en-US" sz="1350" dirty="0"/>
          </a:p>
        </p:txBody>
      </p:sp>
      <p:sp>
        <p:nvSpPr>
          <p:cNvPr id="23" name="Text 21"/>
          <p:cNvSpPr/>
          <p:nvPr/>
        </p:nvSpPr>
        <p:spPr>
          <a:xfrm>
            <a:off x="8229600" y="5943600"/>
            <a:ext cx="3108960" cy="914400"/>
          </a:xfrm>
          <a:prstGeom prst="rect">
            <a:avLst/>
          </a:prstGeom>
          <a:noFill/>
          <a:ln/>
        </p:spPr>
        <p:txBody>
          <a:bodyPr wrap="square" lIns="0" tIns="0" rIns="0" bIns="0" rtlCol="0" anchor="ctr"/>
          <a:lstStyle/>
          <a:p>
            <a:pPr marL="0" indent="0" algn="r">
              <a:buNone/>
            </a:pPr>
            <a:r>
              <a:rPr lang="en-US" sz="1350" b="1" dirty="0">
                <a:solidFill>
                  <a:srgbClr val="32A849"/>
                </a:solidFill>
                <a:latin typeface="Century Gothic" pitchFamily="34" charset="0"/>
                <a:ea typeface="Century Gothic" pitchFamily="34" charset="-122"/>
                <a:cs typeface="Century Gothic" pitchFamily="34" charset="-120"/>
              </a:rPr>
              <a:t>Jour 1  ·  09h30 à 10h30</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1E7A33"/>
                </a:solidFill>
                <a:latin typeface="Century Gothic" pitchFamily="34" charset="0"/>
                <a:ea typeface="Century Gothic" pitchFamily="34" charset="-122"/>
                <a:cs typeface="Century Gothic" pitchFamily="34" charset="-120"/>
              </a:rPr>
              <a:t>LE SUJET</a:t>
            </a:r>
            <a:endParaRPr lang="en-US" sz="1250" dirty="0"/>
          </a:p>
        </p:txBody>
      </p:sp>
      <p:sp>
        <p:nvSpPr>
          <p:cNvPr id="3" name="Shape 1"/>
          <p:cNvSpPr/>
          <p:nvPr/>
        </p:nvSpPr>
        <p:spPr>
          <a:xfrm>
            <a:off x="-548640" y="1024128"/>
            <a:ext cx="8778240" cy="804672"/>
          </a:xfrm>
          <a:prstGeom prst="roundRect">
            <a:avLst>
              <a:gd name="adj" fmla="val 50000"/>
            </a:avLst>
          </a:prstGeom>
          <a:solidFill>
            <a:srgbClr val="22438F"/>
          </a:solidFill>
          <a:ln/>
        </p:spPr>
      </p:sp>
      <p:sp>
        <p:nvSpPr>
          <p:cNvPr id="4" name="Text 2"/>
          <p:cNvSpPr/>
          <p:nvPr/>
        </p:nvSpPr>
        <p:spPr>
          <a:xfrm>
            <a:off x="658368" y="1024128"/>
            <a:ext cx="7315200" cy="804672"/>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Deux thématiques, un même défi</a:t>
            </a:r>
            <a:endParaRPr lang="en-US" sz="2600" dirty="0"/>
          </a:p>
        </p:txBody>
      </p:sp>
      <p:sp>
        <p:nvSpPr>
          <p:cNvPr id="5" name="Text 3"/>
          <p:cNvSpPr/>
          <p:nvPr/>
        </p:nvSpPr>
        <p:spPr>
          <a:xfrm>
            <a:off x="658368" y="2048256"/>
            <a:ext cx="10881360" cy="457200"/>
          </a:xfrm>
          <a:prstGeom prst="rect">
            <a:avLst/>
          </a:prstGeom>
          <a:noFill/>
          <a:ln/>
        </p:spPr>
        <p:txBody>
          <a:bodyPr wrap="square" lIns="0" tIns="0" rIns="0" bIns="0" rtlCol="0" anchor="ctr"/>
          <a:lstStyle/>
          <a:p>
            <a:pPr marL="0" indent="0">
              <a:buNone/>
            </a:pPr>
            <a:r>
              <a:rPr lang="en-US" sz="1400" dirty="0">
                <a:solidFill>
                  <a:srgbClr val="231F20"/>
                </a:solidFill>
                <a:latin typeface="Calibri" pitchFamily="34" charset="0"/>
                <a:ea typeface="Calibri" pitchFamily="34" charset="-122"/>
                <a:cs typeface="Calibri" pitchFamily="34" charset="-120"/>
              </a:rPr>
              <a:t>Vous avez choisi votre thématique au dépôt du dossier. Elle ne change plus. Les deux sont évaluées avec la même grille et ouvrent aux mêmes prix.</a:t>
            </a:r>
            <a:endParaRPr lang="en-US" sz="1400" dirty="0"/>
          </a:p>
        </p:txBody>
      </p:sp>
      <p:sp>
        <p:nvSpPr>
          <p:cNvPr id="6" name="Shape 4"/>
          <p:cNvSpPr/>
          <p:nvPr/>
        </p:nvSpPr>
        <p:spPr>
          <a:xfrm>
            <a:off x="658368" y="2688336"/>
            <a:ext cx="5303520" cy="3291840"/>
          </a:xfrm>
          <a:prstGeom prst="rect">
            <a:avLst/>
          </a:prstGeom>
          <a:solidFill>
            <a:srgbClr val="FFFFFF"/>
          </a:solidFill>
          <a:ln w="9525">
            <a:solidFill>
              <a:srgbClr val="DCE2EE"/>
            </a:solidFill>
            <a:prstDash val="solid"/>
          </a:ln>
        </p:spPr>
      </p:sp>
      <p:sp>
        <p:nvSpPr>
          <p:cNvPr id="7" name="Shape 5"/>
          <p:cNvSpPr/>
          <p:nvPr/>
        </p:nvSpPr>
        <p:spPr>
          <a:xfrm>
            <a:off x="658368" y="2688336"/>
            <a:ext cx="82296" cy="3291840"/>
          </a:xfrm>
          <a:prstGeom prst="rect">
            <a:avLst/>
          </a:prstGeom>
          <a:solidFill>
            <a:srgbClr val="32A849"/>
          </a:solidFill>
          <a:ln/>
        </p:spPr>
      </p:sp>
      <p:sp>
        <p:nvSpPr>
          <p:cNvPr id="8" name="Text 6"/>
          <p:cNvSpPr/>
          <p:nvPr/>
        </p:nvSpPr>
        <p:spPr>
          <a:xfrm>
            <a:off x="932688" y="2816352"/>
            <a:ext cx="868680" cy="603504"/>
          </a:xfrm>
          <a:prstGeom prst="rect">
            <a:avLst/>
          </a:prstGeom>
          <a:noFill/>
          <a:ln/>
        </p:spPr>
        <p:txBody>
          <a:bodyPr wrap="square" lIns="0" tIns="0" rIns="0" bIns="0" rtlCol="0" anchor="ctr"/>
          <a:lstStyle/>
          <a:p>
            <a:pPr marL="0" indent="0">
              <a:buNone/>
            </a:pPr>
            <a:r>
              <a:rPr lang="en-US" sz="3000" b="1" dirty="0">
                <a:solidFill>
                  <a:srgbClr val="32A849"/>
                </a:solidFill>
                <a:latin typeface="Century Gothic" pitchFamily="34" charset="0"/>
                <a:ea typeface="Century Gothic" pitchFamily="34" charset="-122"/>
                <a:cs typeface="Century Gothic" pitchFamily="34" charset="-120"/>
              </a:rPr>
              <a:t>01</a:t>
            </a:r>
            <a:endParaRPr lang="en-US" sz="3000" dirty="0"/>
          </a:p>
        </p:txBody>
      </p:sp>
      <p:sp>
        <p:nvSpPr>
          <p:cNvPr id="9" name="Text 7"/>
          <p:cNvSpPr/>
          <p:nvPr/>
        </p:nvSpPr>
        <p:spPr>
          <a:xfrm>
            <a:off x="1792224" y="2816352"/>
            <a:ext cx="3931920" cy="603504"/>
          </a:xfrm>
          <a:prstGeom prst="rect">
            <a:avLst/>
          </a:prstGeom>
          <a:noFill/>
          <a:ln/>
        </p:spPr>
        <p:txBody>
          <a:bodyPr wrap="square" lIns="0" tIns="0" rIns="0" bIns="0" rtlCol="0" anchor="ctr"/>
          <a:lstStyle/>
          <a:p>
            <a:pPr marL="0" indent="0">
              <a:buNone/>
            </a:pPr>
            <a:r>
              <a:rPr lang="en-US" sz="1600" b="1" dirty="0">
                <a:solidFill>
                  <a:srgbClr val="231F20"/>
                </a:solidFill>
                <a:latin typeface="Century Gothic" pitchFamily="34" charset="0"/>
                <a:ea typeface="Century Gothic" pitchFamily="34" charset="-122"/>
                <a:cs typeface="Century Gothic" pitchFamily="34" charset="-120"/>
              </a:rPr>
              <a:t>Thématique 01  ·  Filtrage et PPE</a:t>
            </a:r>
            <a:endParaRPr lang="en-US" sz="1600" dirty="0"/>
          </a:p>
        </p:txBody>
      </p:sp>
      <p:sp>
        <p:nvSpPr>
          <p:cNvPr id="10" name="Text 8"/>
          <p:cNvSpPr/>
          <p:nvPr/>
        </p:nvSpPr>
        <p:spPr>
          <a:xfrm>
            <a:off x="932688" y="3493008"/>
            <a:ext cx="4791456" cy="1234440"/>
          </a:xfrm>
          <a:prstGeom prst="rect">
            <a:avLst/>
          </a:prstGeom>
          <a:noFill/>
          <a:ln/>
        </p:spPr>
        <p:txBody>
          <a:bodyPr wrap="square" lIns="0" tIns="0" rIns="0" bIns="0" rtlCol="0" anchor="t"/>
          <a:lstStyle/>
          <a:p>
            <a:pPr marL="0" indent="0">
              <a:lnSpc>
                <a:spcPts val="1700"/>
              </a:lnSpc>
              <a:buNone/>
            </a:pPr>
            <a:r>
              <a:rPr lang="en-US" sz="1200" dirty="0">
                <a:solidFill>
                  <a:srgbClr val="231F20"/>
                </a:solidFill>
                <a:latin typeface="Calibri" pitchFamily="34" charset="0"/>
                <a:ea typeface="Calibri" pitchFamily="34" charset="-122"/>
                <a:cs typeface="Calibri" pitchFamily="34" charset="-120"/>
              </a:rPr>
              <a:t>Concevoir une solution numérique de filtrage automatisé des clients et des transactions au regard des listes de sanctions LBC/FT et des profils de Personnes Politiquement Exposées, adaptée aux contraintes techniques et organisationnelles des SFD d’Afrique de l’Ouest.</a:t>
            </a:r>
            <a:endParaRPr lang="en-US" sz="1200" dirty="0"/>
          </a:p>
        </p:txBody>
      </p:sp>
      <p:sp>
        <p:nvSpPr>
          <p:cNvPr id="11" name="Text 9"/>
          <p:cNvSpPr/>
          <p:nvPr/>
        </p:nvSpPr>
        <p:spPr>
          <a:xfrm>
            <a:off x="932688" y="4754880"/>
            <a:ext cx="4791456" cy="10972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Conformité BCEAO et normes LBC/FT de l’UEMOA</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Homonymies, translittérations, seuils d’alerte</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Mise à jour des listes en environnement peu connecté</a:t>
            </a:r>
            <a:endParaRPr lang="en-US" sz="1150" dirty="0"/>
          </a:p>
        </p:txBody>
      </p:sp>
      <p:sp>
        <p:nvSpPr>
          <p:cNvPr id="12" name="Shape 10"/>
          <p:cNvSpPr/>
          <p:nvPr/>
        </p:nvSpPr>
        <p:spPr>
          <a:xfrm>
            <a:off x="6236208" y="2688336"/>
            <a:ext cx="5303520" cy="3291840"/>
          </a:xfrm>
          <a:prstGeom prst="rect">
            <a:avLst/>
          </a:prstGeom>
          <a:solidFill>
            <a:srgbClr val="FFFFFF"/>
          </a:solidFill>
          <a:ln w="9525">
            <a:solidFill>
              <a:srgbClr val="DCE2EE"/>
            </a:solidFill>
            <a:prstDash val="solid"/>
          </a:ln>
        </p:spPr>
      </p:sp>
      <p:sp>
        <p:nvSpPr>
          <p:cNvPr id="13" name="Shape 11"/>
          <p:cNvSpPr/>
          <p:nvPr/>
        </p:nvSpPr>
        <p:spPr>
          <a:xfrm>
            <a:off x="6236208" y="2688336"/>
            <a:ext cx="82296" cy="3291840"/>
          </a:xfrm>
          <a:prstGeom prst="rect">
            <a:avLst/>
          </a:prstGeom>
          <a:solidFill>
            <a:srgbClr val="22438F"/>
          </a:solidFill>
          <a:ln/>
        </p:spPr>
      </p:sp>
      <p:sp>
        <p:nvSpPr>
          <p:cNvPr id="14" name="Text 12"/>
          <p:cNvSpPr/>
          <p:nvPr/>
        </p:nvSpPr>
        <p:spPr>
          <a:xfrm>
            <a:off x="6510528" y="2816352"/>
            <a:ext cx="868680" cy="603504"/>
          </a:xfrm>
          <a:prstGeom prst="rect">
            <a:avLst/>
          </a:prstGeom>
          <a:noFill/>
          <a:ln/>
        </p:spPr>
        <p:txBody>
          <a:bodyPr wrap="square" lIns="0" tIns="0" rIns="0" bIns="0" rtlCol="0" anchor="ctr"/>
          <a:lstStyle/>
          <a:p>
            <a:pPr marL="0" indent="0">
              <a:buNone/>
            </a:pPr>
            <a:r>
              <a:rPr lang="en-US" sz="3000" b="1" dirty="0">
                <a:solidFill>
                  <a:srgbClr val="22438F"/>
                </a:solidFill>
                <a:latin typeface="Century Gothic" pitchFamily="34" charset="0"/>
                <a:ea typeface="Century Gothic" pitchFamily="34" charset="-122"/>
                <a:cs typeface="Century Gothic" pitchFamily="34" charset="-120"/>
              </a:rPr>
              <a:t>02</a:t>
            </a:r>
            <a:endParaRPr lang="en-US" sz="3000" dirty="0"/>
          </a:p>
        </p:txBody>
      </p:sp>
      <p:sp>
        <p:nvSpPr>
          <p:cNvPr id="15" name="Text 13"/>
          <p:cNvSpPr/>
          <p:nvPr/>
        </p:nvSpPr>
        <p:spPr>
          <a:xfrm>
            <a:off x="7370064" y="2816352"/>
            <a:ext cx="3931920" cy="603504"/>
          </a:xfrm>
          <a:prstGeom prst="rect">
            <a:avLst/>
          </a:prstGeom>
          <a:noFill/>
          <a:ln/>
        </p:spPr>
        <p:txBody>
          <a:bodyPr wrap="square" lIns="0" tIns="0" rIns="0" bIns="0" rtlCol="0" anchor="ctr"/>
          <a:lstStyle/>
          <a:p>
            <a:pPr marL="0" indent="0">
              <a:buNone/>
            </a:pPr>
            <a:r>
              <a:rPr lang="en-US" sz="1600" b="1" dirty="0">
                <a:solidFill>
                  <a:srgbClr val="231F20"/>
                </a:solidFill>
                <a:latin typeface="Century Gothic" pitchFamily="34" charset="0"/>
                <a:ea typeface="Century Gothic" pitchFamily="34" charset="-122"/>
                <a:cs typeface="Century Gothic" pitchFamily="34" charset="-120"/>
              </a:rPr>
              <a:t>Thématique 02  ·  Scoring microcrédit</a:t>
            </a:r>
            <a:endParaRPr lang="en-US" sz="1600" dirty="0"/>
          </a:p>
        </p:txBody>
      </p:sp>
      <p:sp>
        <p:nvSpPr>
          <p:cNvPr id="16" name="Text 14"/>
          <p:cNvSpPr/>
          <p:nvPr/>
        </p:nvSpPr>
        <p:spPr>
          <a:xfrm>
            <a:off x="6510528" y="3493008"/>
            <a:ext cx="4791456" cy="1234440"/>
          </a:xfrm>
          <a:prstGeom prst="rect">
            <a:avLst/>
          </a:prstGeom>
          <a:noFill/>
          <a:ln/>
        </p:spPr>
        <p:txBody>
          <a:bodyPr wrap="square" lIns="0" tIns="0" rIns="0" bIns="0" rtlCol="0" anchor="t"/>
          <a:lstStyle/>
          <a:p>
            <a:pPr marL="0" indent="0">
              <a:lnSpc>
                <a:spcPts val="1700"/>
              </a:lnSpc>
              <a:buNone/>
            </a:pPr>
            <a:r>
              <a:rPr lang="en-US" sz="1200" dirty="0">
                <a:solidFill>
                  <a:srgbClr val="231F20"/>
                </a:solidFill>
                <a:latin typeface="Calibri" pitchFamily="34" charset="0"/>
                <a:ea typeface="Calibri" pitchFamily="34" charset="-122"/>
                <a:cs typeface="Calibri" pitchFamily="34" charset="-120"/>
              </a:rPr>
              <a:t>Concevoir un système de scoring automatisé et adapté au contexte des SFD, permettant d’évaluer rapidement et objectivement le profil de risque d’un demandeur de microcrédit à partir de données disponibles localement, sans dépendance à des infrastructures coûteuses.</a:t>
            </a:r>
            <a:endParaRPr lang="en-US" sz="1200" dirty="0"/>
          </a:p>
        </p:txBody>
      </p:sp>
      <p:sp>
        <p:nvSpPr>
          <p:cNvPr id="17" name="Text 15"/>
          <p:cNvSpPr/>
          <p:nvPr/>
        </p:nvSpPr>
        <p:spPr>
          <a:xfrm>
            <a:off x="6510528" y="4754880"/>
            <a:ext cx="4791456" cy="10972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Variables réellement disponibles : historique d’épargne, historique de crédit, domaine d’activité, zone d’habitation</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Aucune grille de notation manuelle n’existe aujourd’hui chez les agents de crédit</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Le traitement des demandeurs sans historique est valorisé</a:t>
            </a:r>
            <a:endParaRPr lang="en-US" sz="1150" dirty="0"/>
          </a:p>
        </p:txBody>
      </p:sp>
      <p:sp>
        <p:nvSpPr>
          <p:cNvPr id="18" name="Text 16"/>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19" name="Text 17"/>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Sources : Guide méthodologique ; réponses de la CIF aux candidats.</a:t>
            </a:r>
            <a:endParaRPr lang="en-US" sz="900" dirty="0"/>
          </a:p>
        </p:txBody>
      </p:sp>
      <p:sp>
        <p:nvSpPr>
          <p:cNvPr id="20" name="Text 18"/>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1E7A33"/>
                </a:solidFill>
                <a:latin typeface="Century Gothic" pitchFamily="34" charset="0"/>
                <a:ea typeface="Century Gothic" pitchFamily="34" charset="-122"/>
                <a:cs typeface="Century Gothic" pitchFamily="34" charset="-120"/>
              </a:rPr>
              <a:t>VOTRE VOIE</a:t>
            </a:r>
            <a:endParaRPr lang="en-US" sz="1250" dirty="0"/>
          </a:p>
        </p:txBody>
      </p:sp>
      <p:sp>
        <p:nvSpPr>
          <p:cNvPr id="3" name="Shape 1"/>
          <p:cNvSpPr/>
          <p:nvPr/>
        </p:nvSpPr>
        <p:spPr>
          <a:xfrm>
            <a:off x="-548640" y="1024128"/>
            <a:ext cx="9875520" cy="804672"/>
          </a:xfrm>
          <a:prstGeom prst="roundRect">
            <a:avLst>
              <a:gd name="adj" fmla="val 50000"/>
            </a:avLst>
          </a:prstGeom>
          <a:solidFill>
            <a:srgbClr val="22438F"/>
          </a:solidFill>
          <a:ln/>
        </p:spPr>
      </p:sp>
      <p:sp>
        <p:nvSpPr>
          <p:cNvPr id="4" name="Text 2"/>
          <p:cNvSpPr/>
          <p:nvPr/>
        </p:nvSpPr>
        <p:spPr>
          <a:xfrm>
            <a:off x="658368" y="1024128"/>
            <a:ext cx="8412480" cy="804672"/>
          </a:xfrm>
          <a:prstGeom prst="rect">
            <a:avLst/>
          </a:prstGeom>
          <a:noFill/>
          <a:ln/>
        </p:spPr>
        <p:txBody>
          <a:bodyPr wrap="square" lIns="0" tIns="0" rIns="0" bIns="0" rtlCol="0" anchor="ctr"/>
          <a:lstStyle/>
          <a:p>
            <a:pPr marL="0" indent="0">
              <a:buNone/>
            </a:pPr>
            <a:r>
              <a:rPr lang="en-US" sz="2400" b="1" dirty="0">
                <a:solidFill>
                  <a:srgbClr val="FFFFFF"/>
                </a:solidFill>
                <a:latin typeface="Century Gothic" pitchFamily="34" charset="0"/>
                <a:ea typeface="Century Gothic" pitchFamily="34" charset="-122"/>
                <a:cs typeface="Century Gothic" pitchFamily="34" charset="-120"/>
              </a:rPr>
              <a:t>Track A ou Track B : mêmes prix, même grille</a:t>
            </a:r>
            <a:endParaRPr lang="en-US" sz="2400" dirty="0"/>
          </a:p>
        </p:txBody>
      </p:sp>
      <p:sp>
        <p:nvSpPr>
          <p:cNvPr id="5" name="Shape 3"/>
          <p:cNvSpPr/>
          <p:nvPr/>
        </p:nvSpPr>
        <p:spPr>
          <a:xfrm>
            <a:off x="658368" y="2103120"/>
            <a:ext cx="5303520" cy="2834640"/>
          </a:xfrm>
          <a:prstGeom prst="rect">
            <a:avLst/>
          </a:prstGeom>
          <a:solidFill>
            <a:srgbClr val="FFFFFF"/>
          </a:solidFill>
          <a:ln w="9525">
            <a:solidFill>
              <a:srgbClr val="DCE2EE"/>
            </a:solidFill>
            <a:prstDash val="solid"/>
          </a:ln>
        </p:spPr>
      </p:sp>
      <p:sp>
        <p:nvSpPr>
          <p:cNvPr id="6" name="Shape 4"/>
          <p:cNvSpPr/>
          <p:nvPr/>
        </p:nvSpPr>
        <p:spPr>
          <a:xfrm>
            <a:off x="658368" y="2103120"/>
            <a:ext cx="82296" cy="2834640"/>
          </a:xfrm>
          <a:prstGeom prst="rect">
            <a:avLst/>
          </a:prstGeom>
          <a:solidFill>
            <a:srgbClr val="32A849"/>
          </a:solidFill>
          <a:ln/>
        </p:spPr>
      </p:sp>
      <p:sp>
        <p:nvSpPr>
          <p:cNvPr id="7" name="Text 5"/>
          <p:cNvSpPr/>
          <p:nvPr/>
        </p:nvSpPr>
        <p:spPr>
          <a:xfrm>
            <a:off x="932688" y="2249424"/>
            <a:ext cx="2194560" cy="402336"/>
          </a:xfrm>
          <a:prstGeom prst="rect">
            <a:avLst/>
          </a:prstGeom>
          <a:noFill/>
          <a:ln/>
        </p:spPr>
        <p:txBody>
          <a:bodyPr wrap="square" lIns="0" tIns="0" rIns="0" bIns="0" rtlCol="0" anchor="ctr"/>
          <a:lstStyle/>
          <a:p>
            <a:pPr marL="0" indent="0">
              <a:buNone/>
            </a:pPr>
            <a:r>
              <a:rPr lang="en-US" sz="2000" b="1" dirty="0">
                <a:solidFill>
                  <a:srgbClr val="32A849"/>
                </a:solidFill>
                <a:latin typeface="Century Gothic" pitchFamily="34" charset="0"/>
                <a:ea typeface="Century Gothic" pitchFamily="34" charset="-122"/>
                <a:cs typeface="Century Gothic" pitchFamily="34" charset="-120"/>
              </a:rPr>
              <a:t>TRACK A</a:t>
            </a:r>
            <a:endParaRPr lang="en-US" sz="2000" dirty="0"/>
          </a:p>
        </p:txBody>
      </p:sp>
      <p:sp>
        <p:nvSpPr>
          <p:cNvPr id="8" name="Text 6"/>
          <p:cNvSpPr/>
          <p:nvPr/>
        </p:nvSpPr>
        <p:spPr>
          <a:xfrm>
            <a:off x="932688" y="2670048"/>
            <a:ext cx="4791456" cy="310896"/>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Innovation orientée MVP</a:t>
            </a:r>
            <a:endParaRPr lang="en-US" sz="1350" dirty="0"/>
          </a:p>
        </p:txBody>
      </p:sp>
      <p:sp>
        <p:nvSpPr>
          <p:cNvPr id="9" name="Text 7"/>
          <p:cNvSpPr/>
          <p:nvPr/>
        </p:nvSpPr>
        <p:spPr>
          <a:xfrm>
            <a:off x="932688" y="3035808"/>
            <a:ext cx="4791456" cy="658368"/>
          </a:xfrm>
          <a:prstGeom prst="rect">
            <a:avLst/>
          </a:prstGeom>
          <a:noFill/>
          <a:ln/>
        </p:spPr>
        <p:txBody>
          <a:bodyPr wrap="square" lIns="0" tIns="0" rIns="0" bIns="0" rtlCol="0" anchor="t"/>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Vous partez d’une idée nouvelle et développez votre solution intégralement pendant les 72 heures.</a:t>
            </a:r>
            <a:endParaRPr lang="en-US" sz="1250" dirty="0"/>
          </a:p>
        </p:txBody>
      </p:sp>
      <p:sp>
        <p:nvSpPr>
          <p:cNvPr id="10" name="Text 8"/>
          <p:cNvSpPr/>
          <p:nvPr/>
        </p:nvSpPr>
        <p:spPr>
          <a:xfrm>
            <a:off x="932688" y="3730752"/>
            <a:ext cx="4791456" cy="10972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Créativité, prototypage rapide, innovation pure</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Jour 1 : cadrage du problème, personas, architecture</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Le jury attend un prototype fonctionnel né ici</a:t>
            </a:r>
            <a:endParaRPr lang="en-US" sz="1150" dirty="0"/>
          </a:p>
        </p:txBody>
      </p:sp>
      <p:sp>
        <p:nvSpPr>
          <p:cNvPr id="11" name="Shape 9"/>
          <p:cNvSpPr/>
          <p:nvPr/>
        </p:nvSpPr>
        <p:spPr>
          <a:xfrm>
            <a:off x="6236208" y="2103120"/>
            <a:ext cx="5303520" cy="2834640"/>
          </a:xfrm>
          <a:prstGeom prst="rect">
            <a:avLst/>
          </a:prstGeom>
          <a:solidFill>
            <a:srgbClr val="FFFFFF"/>
          </a:solidFill>
          <a:ln w="9525">
            <a:solidFill>
              <a:srgbClr val="DCE2EE"/>
            </a:solidFill>
            <a:prstDash val="solid"/>
          </a:ln>
        </p:spPr>
      </p:sp>
      <p:sp>
        <p:nvSpPr>
          <p:cNvPr id="12" name="Shape 10"/>
          <p:cNvSpPr/>
          <p:nvPr/>
        </p:nvSpPr>
        <p:spPr>
          <a:xfrm>
            <a:off x="6236208" y="2103120"/>
            <a:ext cx="82296" cy="2834640"/>
          </a:xfrm>
          <a:prstGeom prst="rect">
            <a:avLst/>
          </a:prstGeom>
          <a:solidFill>
            <a:srgbClr val="B51F24"/>
          </a:solidFill>
          <a:ln/>
        </p:spPr>
      </p:sp>
      <p:sp>
        <p:nvSpPr>
          <p:cNvPr id="13" name="Text 11"/>
          <p:cNvSpPr/>
          <p:nvPr/>
        </p:nvSpPr>
        <p:spPr>
          <a:xfrm>
            <a:off x="6510528" y="2249424"/>
            <a:ext cx="2194560" cy="402336"/>
          </a:xfrm>
          <a:prstGeom prst="rect">
            <a:avLst/>
          </a:prstGeom>
          <a:noFill/>
          <a:ln/>
        </p:spPr>
        <p:txBody>
          <a:bodyPr wrap="square" lIns="0" tIns="0" rIns="0" bIns="0" rtlCol="0" anchor="ctr"/>
          <a:lstStyle/>
          <a:p>
            <a:pPr marL="0" indent="0">
              <a:buNone/>
            </a:pPr>
            <a:r>
              <a:rPr lang="en-US" sz="2000" b="1" dirty="0">
                <a:solidFill>
                  <a:srgbClr val="B51F24"/>
                </a:solidFill>
                <a:latin typeface="Century Gothic" pitchFamily="34" charset="0"/>
                <a:ea typeface="Century Gothic" pitchFamily="34" charset="-122"/>
                <a:cs typeface="Century Gothic" pitchFamily="34" charset="-120"/>
              </a:rPr>
              <a:t>TRACK B</a:t>
            </a:r>
            <a:endParaRPr lang="en-US" sz="2000" dirty="0"/>
          </a:p>
        </p:txBody>
      </p:sp>
      <p:sp>
        <p:nvSpPr>
          <p:cNvPr id="14" name="Text 12"/>
          <p:cNvSpPr/>
          <p:nvPr/>
        </p:nvSpPr>
        <p:spPr>
          <a:xfrm>
            <a:off x="6510528" y="2670048"/>
            <a:ext cx="4791456" cy="310896"/>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Bootcamp orienté adaptation</a:t>
            </a:r>
            <a:endParaRPr lang="en-US" sz="1350" dirty="0"/>
          </a:p>
        </p:txBody>
      </p:sp>
      <p:sp>
        <p:nvSpPr>
          <p:cNvPr id="15" name="Text 13"/>
          <p:cNvSpPr/>
          <p:nvPr/>
        </p:nvSpPr>
        <p:spPr>
          <a:xfrm>
            <a:off x="6510528" y="3035808"/>
            <a:ext cx="4791456" cy="658368"/>
          </a:xfrm>
          <a:prstGeom prst="rect">
            <a:avLst/>
          </a:prstGeom>
          <a:noFill/>
          <a:ln/>
        </p:spPr>
        <p:txBody>
          <a:bodyPr wrap="square" lIns="0" tIns="0" rIns="0" bIns="0" rtlCol="0" anchor="t"/>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Vous disposez d’une solution existante et venez l’adapter, la contextualiser et la finaliser pour les SFD.</a:t>
            </a:r>
            <a:endParaRPr lang="en-US" sz="1250" dirty="0"/>
          </a:p>
        </p:txBody>
      </p:sp>
      <p:sp>
        <p:nvSpPr>
          <p:cNvPr id="16" name="Text 14"/>
          <p:cNvSpPr/>
          <p:nvPr/>
        </p:nvSpPr>
        <p:spPr>
          <a:xfrm>
            <a:off x="6510528" y="3730752"/>
            <a:ext cx="4791456" cy="1097280"/>
          </a:xfrm>
          <a:prstGeom prst="rect">
            <a:avLst/>
          </a:prstGeom>
          <a:noFill/>
          <a:ln/>
        </p:spPr>
        <p:txBody>
          <a:bodyPr wrap="square" lIns="0" tIns="0" rIns="0" bIns="0" rtlCol="0" anchor="t"/>
          <a:lstStyle/>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Jour 1 : audit fonctionnel, écarts contre besoins SFD, go ou no-go</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Backlog d’adaptation limité à cinq fonctionnalités au maximum</a:t>
            </a:r>
            <a:endParaRPr lang="en-US" sz="1150" dirty="0"/>
          </a:p>
          <a:p>
            <a:pPr marL="165100" indent="-165100">
              <a:lnSpc>
                <a:spcPts val="1500"/>
              </a:lnSpc>
              <a:spcAft>
                <a:spcPts val="700"/>
              </a:spcAft>
              <a:buSzPct val="100000"/>
              <a:buChar char="•"/>
            </a:pPr>
            <a:r>
              <a:rPr lang="en-US" sz="1150" dirty="0">
                <a:solidFill>
                  <a:srgbClr val="231F20"/>
                </a:solidFill>
                <a:latin typeface="Calibri" pitchFamily="34" charset="0"/>
                <a:ea typeface="Calibri" pitchFamily="34" charset="-122"/>
                <a:cs typeface="Calibri" pitchFamily="34" charset="-120"/>
              </a:rPr>
              <a:t>Présenter la solution inchangée est exclu : c’est la condition sine qua non du Track B</a:t>
            </a:r>
            <a:endParaRPr lang="en-US" sz="1150" dirty="0"/>
          </a:p>
        </p:txBody>
      </p:sp>
      <p:sp>
        <p:nvSpPr>
          <p:cNvPr id="17" name="Shape 15"/>
          <p:cNvSpPr/>
          <p:nvPr/>
        </p:nvSpPr>
        <p:spPr>
          <a:xfrm>
            <a:off x="658368" y="5175504"/>
            <a:ext cx="10881360" cy="969264"/>
          </a:xfrm>
          <a:prstGeom prst="rect">
            <a:avLst/>
          </a:prstGeom>
          <a:solidFill>
            <a:srgbClr val="22438F"/>
          </a:solidFill>
          <a:ln/>
        </p:spPr>
      </p:sp>
      <p:sp>
        <p:nvSpPr>
          <p:cNvPr id="18" name="Text 16"/>
          <p:cNvSpPr/>
          <p:nvPr/>
        </p:nvSpPr>
        <p:spPr>
          <a:xfrm>
            <a:off x="969264" y="5175504"/>
            <a:ext cx="10277856" cy="969264"/>
          </a:xfrm>
          <a:prstGeom prst="rect">
            <a:avLst/>
          </a:prstGeom>
          <a:noFill/>
          <a:ln/>
        </p:spPr>
        <p:txBody>
          <a:bodyPr wrap="square" lIns="0" tIns="0" rIns="0" bIns="0" rtlCol="0" anchor="ctr"/>
          <a:lstStyle/>
          <a:p>
            <a:pPr marL="0" indent="0">
              <a:lnSpc>
                <a:spcPts val="1700"/>
              </a:lnSpc>
              <a:buNone/>
            </a:pPr>
            <a:r>
              <a:rPr lang="en-US" sz="1250" b="1" dirty="0">
                <a:solidFill>
                  <a:srgbClr val="FFFFFF"/>
                </a:solidFill>
                <a:latin typeface="Calibri" pitchFamily="34" charset="0"/>
                <a:ea typeface="Calibri" pitchFamily="34" charset="-122"/>
                <a:cs typeface="Calibri" pitchFamily="34" charset="-120"/>
              </a:rPr>
              <a:t>Pour le critère originalité, le Track B n’est pas pénalisé. </a:t>
            </a:r>
            <a:r>
              <a:rPr lang="en-US" sz="1250" dirty="0">
                <a:solidFill>
                  <a:srgbClr val="FFFFFF"/>
                </a:solidFill>
                <a:latin typeface="Calibri" pitchFamily="34" charset="0"/>
                <a:ea typeface="Calibri" pitchFamily="34" charset="-122"/>
                <a:cs typeface="Calibri" pitchFamily="34" charset="-120"/>
              </a:rPr>
              <a:t>Le jury y valorise la pertinence de la contextualisation SFD plutôt que la nouveauté absolue : une adaptation bien documentée peut obtenir un score élevé. Les deux tracks concourent aux mêmes dotations et à la même qualification pour le Hackathon Régional.</a:t>
            </a:r>
            <a:endParaRPr lang="en-US" sz="1250" dirty="0"/>
          </a:p>
        </p:txBody>
      </p:sp>
      <p:sp>
        <p:nvSpPr>
          <p:cNvPr id="19" name="Text 17"/>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20" name="Text 18"/>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 : Guide méthodologique, comparatif des deux tracks.</a:t>
            </a:r>
            <a:endParaRPr lang="en-US" sz="900" dirty="0"/>
          </a:p>
        </p:txBody>
      </p:sp>
      <p:sp>
        <p:nvSpPr>
          <p:cNvPr id="21" name="Text 19"/>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B51F24"/>
                </a:solidFill>
                <a:latin typeface="Century Gothic" pitchFamily="34" charset="0"/>
                <a:ea typeface="Century Gothic" pitchFamily="34" charset="-122"/>
                <a:cs typeface="Century Gothic" pitchFamily="34" charset="-120"/>
              </a:rPr>
              <a:t>CE QUI EST NON NÉGOCIABLE</a:t>
            </a:r>
            <a:endParaRPr lang="en-US" sz="1250" dirty="0"/>
          </a:p>
        </p:txBody>
      </p:sp>
      <p:sp>
        <p:nvSpPr>
          <p:cNvPr id="3" name="Shape 1"/>
          <p:cNvSpPr/>
          <p:nvPr/>
        </p:nvSpPr>
        <p:spPr>
          <a:xfrm>
            <a:off x="-548640" y="1024128"/>
            <a:ext cx="8412480" cy="804672"/>
          </a:xfrm>
          <a:prstGeom prst="roundRect">
            <a:avLst>
              <a:gd name="adj" fmla="val 50000"/>
            </a:avLst>
          </a:prstGeom>
          <a:solidFill>
            <a:srgbClr val="B51F24"/>
          </a:solidFill>
          <a:ln/>
        </p:spPr>
      </p:sp>
      <p:sp>
        <p:nvSpPr>
          <p:cNvPr id="4" name="Text 2"/>
          <p:cNvSpPr/>
          <p:nvPr/>
        </p:nvSpPr>
        <p:spPr>
          <a:xfrm>
            <a:off x="658368" y="1024128"/>
            <a:ext cx="6949440" cy="804672"/>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Règles d’équipe et de présence</a:t>
            </a:r>
            <a:endParaRPr lang="en-US" sz="2600" dirty="0"/>
          </a:p>
        </p:txBody>
      </p:sp>
      <p:sp>
        <p:nvSpPr>
          <p:cNvPr id="5" name="Shape 3"/>
          <p:cNvSpPr/>
          <p:nvPr/>
        </p:nvSpPr>
        <p:spPr>
          <a:xfrm>
            <a:off x="658368" y="2157984"/>
            <a:ext cx="10881360" cy="914400"/>
          </a:xfrm>
          <a:prstGeom prst="rect">
            <a:avLst/>
          </a:prstGeom>
          <a:solidFill>
            <a:srgbClr val="EDF1F8"/>
          </a:solidFill>
          <a:ln w="9525">
            <a:solidFill>
              <a:srgbClr val="DCE2EE"/>
            </a:solidFill>
            <a:prstDash val="solid"/>
          </a:ln>
        </p:spPr>
      </p:sp>
      <p:sp>
        <p:nvSpPr>
          <p:cNvPr id="6" name="Shape 4"/>
          <p:cNvSpPr/>
          <p:nvPr/>
        </p:nvSpPr>
        <p:spPr>
          <a:xfrm>
            <a:off x="658368" y="2157984"/>
            <a:ext cx="82296" cy="914400"/>
          </a:xfrm>
          <a:prstGeom prst="rect">
            <a:avLst/>
          </a:prstGeom>
          <a:solidFill>
            <a:srgbClr val="B51F24"/>
          </a:solidFill>
          <a:ln/>
        </p:spPr>
      </p:sp>
      <p:sp>
        <p:nvSpPr>
          <p:cNvPr id="7" name="Text 5"/>
          <p:cNvSpPr/>
          <p:nvPr/>
        </p:nvSpPr>
        <p:spPr>
          <a:xfrm>
            <a:off x="969264" y="2157984"/>
            <a:ext cx="1691640" cy="914400"/>
          </a:xfrm>
          <a:prstGeom prst="rect">
            <a:avLst/>
          </a:prstGeom>
          <a:noFill/>
          <a:ln/>
        </p:spPr>
        <p:txBody>
          <a:bodyPr wrap="square" lIns="0" tIns="0" rIns="0" bIns="0" rtlCol="0" anchor="ctr"/>
          <a:lstStyle/>
          <a:p>
            <a:pPr marL="0" indent="0">
              <a:buNone/>
            </a:pPr>
            <a:r>
              <a:rPr lang="en-US" sz="2400" b="1" dirty="0">
                <a:solidFill>
                  <a:srgbClr val="B51F24"/>
                </a:solidFill>
                <a:latin typeface="Century Gothic" pitchFamily="34" charset="0"/>
                <a:ea typeface="Century Gothic" pitchFamily="34" charset="-122"/>
                <a:cs typeface="Century Gothic" pitchFamily="34" charset="-120"/>
              </a:rPr>
              <a:t>3 à 5</a:t>
            </a:r>
            <a:endParaRPr lang="en-US" sz="2400" dirty="0"/>
          </a:p>
        </p:txBody>
      </p:sp>
      <p:sp>
        <p:nvSpPr>
          <p:cNvPr id="8" name="Text 6"/>
          <p:cNvSpPr/>
          <p:nvPr/>
        </p:nvSpPr>
        <p:spPr>
          <a:xfrm>
            <a:off x="2761488" y="2157984"/>
            <a:ext cx="2834640" cy="91440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membres par équipe</a:t>
            </a:r>
            <a:endParaRPr lang="en-US" sz="1350" dirty="0"/>
          </a:p>
        </p:txBody>
      </p:sp>
      <p:sp>
        <p:nvSpPr>
          <p:cNvPr id="9" name="Text 7"/>
          <p:cNvSpPr/>
          <p:nvPr/>
        </p:nvSpPr>
        <p:spPr>
          <a:xfrm>
            <a:off x="5705856" y="2157984"/>
            <a:ext cx="5669280" cy="914400"/>
          </a:xfrm>
          <a:prstGeom prst="rect">
            <a:avLst/>
          </a:prstGeom>
          <a:noFill/>
          <a:ln/>
        </p:spPr>
        <p:txBody>
          <a:bodyPr wrap="square" lIns="0" tIns="0" rIns="0" bIns="0" rtlCol="0" anchor="ctr"/>
          <a:lstStyle/>
          <a:p>
            <a:pPr marL="0" indent="0">
              <a:lnSpc>
                <a:spcPts val="1600"/>
              </a:lnSpc>
              <a:buNone/>
            </a:pPr>
            <a:r>
              <a:rPr lang="en-US" sz="1200" dirty="0">
                <a:solidFill>
                  <a:srgbClr val="231F20"/>
                </a:solidFill>
                <a:latin typeface="Calibri" pitchFamily="34" charset="0"/>
                <a:ea typeface="Calibri" pitchFamily="34" charset="-122"/>
                <a:cs typeface="Calibri" pitchFamily="34" charset="-120"/>
              </a:rPr>
              <a:t>Plafond ferme, sans dérogation. Une équipe hors de cette fourchette ne peut pas concourir.</a:t>
            </a:r>
            <a:endParaRPr lang="en-US" sz="1200" dirty="0"/>
          </a:p>
        </p:txBody>
      </p:sp>
      <p:sp>
        <p:nvSpPr>
          <p:cNvPr id="10" name="Shape 8"/>
          <p:cNvSpPr/>
          <p:nvPr/>
        </p:nvSpPr>
        <p:spPr>
          <a:xfrm>
            <a:off x="658368" y="3182112"/>
            <a:ext cx="10881360" cy="914400"/>
          </a:xfrm>
          <a:prstGeom prst="rect">
            <a:avLst/>
          </a:prstGeom>
          <a:solidFill>
            <a:srgbClr val="FFFFFF"/>
          </a:solidFill>
          <a:ln w="9525">
            <a:solidFill>
              <a:srgbClr val="DCE2EE"/>
            </a:solidFill>
            <a:prstDash val="solid"/>
          </a:ln>
        </p:spPr>
      </p:sp>
      <p:sp>
        <p:nvSpPr>
          <p:cNvPr id="11" name="Shape 9"/>
          <p:cNvSpPr/>
          <p:nvPr/>
        </p:nvSpPr>
        <p:spPr>
          <a:xfrm>
            <a:off x="658368" y="3182112"/>
            <a:ext cx="82296" cy="914400"/>
          </a:xfrm>
          <a:prstGeom prst="rect">
            <a:avLst/>
          </a:prstGeom>
          <a:solidFill>
            <a:srgbClr val="22438F"/>
          </a:solidFill>
          <a:ln/>
        </p:spPr>
      </p:sp>
      <p:sp>
        <p:nvSpPr>
          <p:cNvPr id="12" name="Text 10"/>
          <p:cNvSpPr/>
          <p:nvPr/>
        </p:nvSpPr>
        <p:spPr>
          <a:xfrm>
            <a:off x="969264" y="3182112"/>
            <a:ext cx="1691640" cy="914400"/>
          </a:xfrm>
          <a:prstGeom prst="rect">
            <a:avLst/>
          </a:prstGeom>
          <a:noFill/>
          <a:ln/>
        </p:spPr>
        <p:txBody>
          <a:bodyPr wrap="square" lIns="0" tIns="0" rIns="0" bIns="0" rtlCol="0" anchor="ctr"/>
          <a:lstStyle/>
          <a:p>
            <a:pPr marL="0" indent="0">
              <a:buNone/>
            </a:pPr>
            <a:r>
              <a:rPr lang="en-US" sz="2400" b="1" dirty="0">
                <a:solidFill>
                  <a:srgbClr val="22438F"/>
                </a:solidFill>
                <a:latin typeface="Century Gothic" pitchFamily="34" charset="0"/>
                <a:ea typeface="Century Gothic" pitchFamily="34" charset="-122"/>
                <a:cs typeface="Century Gothic" pitchFamily="34" charset="-120"/>
              </a:rPr>
              <a:t>3 jours</a:t>
            </a:r>
            <a:endParaRPr lang="en-US" sz="2400" dirty="0"/>
          </a:p>
        </p:txBody>
      </p:sp>
      <p:sp>
        <p:nvSpPr>
          <p:cNvPr id="13" name="Text 11"/>
          <p:cNvSpPr/>
          <p:nvPr/>
        </p:nvSpPr>
        <p:spPr>
          <a:xfrm>
            <a:off x="2761488" y="3182112"/>
            <a:ext cx="2834640" cy="91440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de présence obligatoire</a:t>
            </a:r>
            <a:endParaRPr lang="en-US" sz="1350" dirty="0"/>
          </a:p>
        </p:txBody>
      </p:sp>
      <p:sp>
        <p:nvSpPr>
          <p:cNvPr id="14" name="Text 12"/>
          <p:cNvSpPr/>
          <p:nvPr/>
        </p:nvSpPr>
        <p:spPr>
          <a:xfrm>
            <a:off x="5705856" y="3182112"/>
            <a:ext cx="5669280" cy="914400"/>
          </a:xfrm>
          <a:prstGeom prst="rect">
            <a:avLst/>
          </a:prstGeom>
          <a:noFill/>
          <a:ln/>
        </p:spPr>
        <p:txBody>
          <a:bodyPr wrap="square" lIns="0" tIns="0" rIns="0" bIns="0" rtlCol="0" anchor="ctr"/>
          <a:lstStyle/>
          <a:p>
            <a:pPr marL="0" indent="0">
              <a:lnSpc>
                <a:spcPts val="1600"/>
              </a:lnSpc>
              <a:buNone/>
            </a:pPr>
            <a:r>
              <a:rPr lang="en-US" sz="1200" dirty="0">
                <a:solidFill>
                  <a:srgbClr val="231F20"/>
                </a:solidFill>
                <a:latin typeface="Calibri" pitchFamily="34" charset="0"/>
                <a:ea typeface="Calibri" pitchFamily="34" charset="-122"/>
                <a:cs typeface="Calibri" pitchFamily="34" charset="-120"/>
              </a:rPr>
              <a:t>La participation se fait sur place, du premier au dernier jour. Les absences sont relevées sur la feuille de présence.</a:t>
            </a:r>
            <a:endParaRPr lang="en-US" sz="1200" dirty="0"/>
          </a:p>
        </p:txBody>
      </p:sp>
      <p:sp>
        <p:nvSpPr>
          <p:cNvPr id="15" name="Shape 13"/>
          <p:cNvSpPr/>
          <p:nvPr/>
        </p:nvSpPr>
        <p:spPr>
          <a:xfrm>
            <a:off x="658368" y="4206240"/>
            <a:ext cx="10881360" cy="914400"/>
          </a:xfrm>
          <a:prstGeom prst="rect">
            <a:avLst/>
          </a:prstGeom>
          <a:solidFill>
            <a:srgbClr val="EDF1F8"/>
          </a:solidFill>
          <a:ln w="9525">
            <a:solidFill>
              <a:srgbClr val="DCE2EE"/>
            </a:solidFill>
            <a:prstDash val="solid"/>
          </a:ln>
        </p:spPr>
      </p:sp>
      <p:sp>
        <p:nvSpPr>
          <p:cNvPr id="16" name="Shape 14"/>
          <p:cNvSpPr/>
          <p:nvPr/>
        </p:nvSpPr>
        <p:spPr>
          <a:xfrm>
            <a:off x="658368" y="4206240"/>
            <a:ext cx="82296" cy="914400"/>
          </a:xfrm>
          <a:prstGeom prst="rect">
            <a:avLst/>
          </a:prstGeom>
          <a:solidFill>
            <a:srgbClr val="32A849"/>
          </a:solidFill>
          <a:ln/>
        </p:spPr>
      </p:sp>
      <p:sp>
        <p:nvSpPr>
          <p:cNvPr id="17" name="Text 15"/>
          <p:cNvSpPr/>
          <p:nvPr/>
        </p:nvSpPr>
        <p:spPr>
          <a:xfrm>
            <a:off x="969264" y="4206240"/>
            <a:ext cx="1691640" cy="914400"/>
          </a:xfrm>
          <a:prstGeom prst="rect">
            <a:avLst/>
          </a:prstGeom>
          <a:noFill/>
          <a:ln/>
        </p:spPr>
        <p:txBody>
          <a:bodyPr wrap="square" lIns="0" tIns="0" rIns="0" bIns="0" rtlCol="0" anchor="ctr"/>
          <a:lstStyle/>
          <a:p>
            <a:pPr marL="0" indent="0">
              <a:buNone/>
            </a:pPr>
            <a:r>
              <a:rPr lang="en-US" sz="2400" b="1" dirty="0">
                <a:solidFill>
                  <a:srgbClr val="32A849"/>
                </a:solidFill>
                <a:latin typeface="Century Gothic" pitchFamily="34" charset="0"/>
                <a:ea typeface="Century Gothic" pitchFamily="34" charset="-122"/>
                <a:cs typeface="Century Gothic" pitchFamily="34" charset="-120"/>
              </a:rPr>
              <a:t>10h30</a:t>
            </a:r>
            <a:endParaRPr lang="en-US" sz="2400" dirty="0"/>
          </a:p>
        </p:txBody>
      </p:sp>
      <p:sp>
        <p:nvSpPr>
          <p:cNvPr id="18" name="Text 16"/>
          <p:cNvSpPr/>
          <p:nvPr/>
        </p:nvSpPr>
        <p:spPr>
          <a:xfrm>
            <a:off x="2761488" y="4206240"/>
            <a:ext cx="2834640" cy="91440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dernier délai pour un changement</a:t>
            </a:r>
            <a:endParaRPr lang="en-US" sz="1350" dirty="0"/>
          </a:p>
        </p:txBody>
      </p:sp>
      <p:sp>
        <p:nvSpPr>
          <p:cNvPr id="19" name="Text 17"/>
          <p:cNvSpPr/>
          <p:nvPr/>
        </p:nvSpPr>
        <p:spPr>
          <a:xfrm>
            <a:off x="5705856" y="4206240"/>
            <a:ext cx="5669280" cy="914400"/>
          </a:xfrm>
          <a:prstGeom prst="rect">
            <a:avLst/>
          </a:prstGeom>
          <a:noFill/>
          <a:ln/>
        </p:spPr>
        <p:txBody>
          <a:bodyPr wrap="square" lIns="0" tIns="0" rIns="0" bIns="0" rtlCol="0" anchor="ctr"/>
          <a:lstStyle/>
          <a:p>
            <a:pPr marL="0" indent="0">
              <a:lnSpc>
                <a:spcPts val="1600"/>
              </a:lnSpc>
              <a:buNone/>
            </a:pPr>
            <a:r>
              <a:rPr lang="en-US" sz="1200" dirty="0">
                <a:solidFill>
                  <a:srgbClr val="231F20"/>
                </a:solidFill>
                <a:latin typeface="Calibri" pitchFamily="34" charset="0"/>
                <a:ea typeface="Calibri" pitchFamily="34" charset="-122"/>
                <a:cs typeface="Calibri" pitchFamily="34" charset="-120"/>
              </a:rPr>
              <a:t>Tout changement de membre déclaré au dossier se signale au moment de la constitution des équipes, ce matin. Ensuite, la composition est figée.</a:t>
            </a:r>
            <a:endParaRPr lang="en-US" sz="1200" dirty="0"/>
          </a:p>
        </p:txBody>
      </p:sp>
      <p:sp>
        <p:nvSpPr>
          <p:cNvPr id="25" name="Text 23"/>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26" name="Text 24"/>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Sources : TDR signé du 24/07/2026 ; réponses de la CIF.</a:t>
            </a:r>
            <a:endParaRPr lang="en-US" sz="900" dirty="0"/>
          </a:p>
        </p:txBody>
      </p:sp>
      <p:sp>
        <p:nvSpPr>
          <p:cNvPr id="27" name="Text 25"/>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22438F"/>
                </a:solidFill>
                <a:latin typeface="Century Gothic" pitchFamily="34" charset="0"/>
                <a:ea typeface="Century Gothic" pitchFamily="34" charset="-122"/>
                <a:cs typeface="Century Gothic" pitchFamily="34" charset="-120"/>
              </a:rPr>
              <a:t>LE CADRE TECHNIQUE</a:t>
            </a:r>
            <a:endParaRPr lang="en-US" sz="1250" dirty="0"/>
          </a:p>
        </p:txBody>
      </p:sp>
      <p:sp>
        <p:nvSpPr>
          <p:cNvPr id="3" name="Shape 1"/>
          <p:cNvSpPr/>
          <p:nvPr/>
        </p:nvSpPr>
        <p:spPr>
          <a:xfrm>
            <a:off x="-548640" y="1024128"/>
            <a:ext cx="7863840" cy="804672"/>
          </a:xfrm>
          <a:prstGeom prst="roundRect">
            <a:avLst>
              <a:gd name="adj" fmla="val 50000"/>
            </a:avLst>
          </a:prstGeom>
          <a:solidFill>
            <a:srgbClr val="22438F"/>
          </a:solidFill>
          <a:ln/>
        </p:spPr>
      </p:sp>
      <p:sp>
        <p:nvSpPr>
          <p:cNvPr id="4" name="Text 2"/>
          <p:cNvSpPr/>
          <p:nvPr/>
        </p:nvSpPr>
        <p:spPr>
          <a:xfrm>
            <a:off x="658368" y="1024128"/>
            <a:ext cx="6400800" cy="804672"/>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Cinq contraintes à respecter</a:t>
            </a:r>
            <a:endParaRPr lang="en-US" sz="2600" dirty="0"/>
          </a:p>
        </p:txBody>
      </p:sp>
      <p:sp>
        <p:nvSpPr>
          <p:cNvPr id="5" name="Text 3"/>
          <p:cNvSpPr/>
          <p:nvPr/>
        </p:nvSpPr>
        <p:spPr>
          <a:xfrm>
            <a:off x="658368" y="2029968"/>
            <a:ext cx="10881360" cy="402336"/>
          </a:xfrm>
          <a:prstGeom prst="rect">
            <a:avLst/>
          </a:prstGeom>
          <a:noFill/>
          <a:ln/>
        </p:spPr>
        <p:txBody>
          <a:bodyPr wrap="square" lIns="0" tIns="0" rIns="0" bIns="0" rtlCol="0" anchor="ctr"/>
          <a:lstStyle/>
          <a:p>
            <a:pPr marL="0" indent="0">
              <a:buNone/>
            </a:pPr>
            <a:r>
              <a:rPr lang="en-US" sz="1350" dirty="0">
                <a:solidFill>
                  <a:srgbClr val="231F20"/>
                </a:solidFill>
                <a:latin typeface="Calibri" pitchFamily="34" charset="0"/>
                <a:ea typeface="Calibri" pitchFamily="34" charset="-122"/>
                <a:cs typeface="Calibri" pitchFamily="34" charset="-120"/>
              </a:rPr>
              <a:t>Elles ne sont pas des recommandations. Une solution qui les ignore perd sur le critère faisabilité technique, qui pèse 20 % de la note.</a:t>
            </a:r>
            <a:endParaRPr lang="en-US" sz="1350" dirty="0"/>
          </a:p>
        </p:txBody>
      </p:sp>
      <p:sp>
        <p:nvSpPr>
          <p:cNvPr id="6" name="Shape 4"/>
          <p:cNvSpPr/>
          <p:nvPr/>
        </p:nvSpPr>
        <p:spPr>
          <a:xfrm>
            <a:off x="658368" y="2615184"/>
            <a:ext cx="3429000" cy="1572768"/>
          </a:xfrm>
          <a:prstGeom prst="rect">
            <a:avLst/>
          </a:prstGeom>
          <a:solidFill>
            <a:srgbClr val="FFFFFF"/>
          </a:solidFill>
          <a:ln w="9525">
            <a:solidFill>
              <a:srgbClr val="DCE2EE"/>
            </a:solidFill>
            <a:prstDash val="solid"/>
          </a:ln>
        </p:spPr>
      </p:sp>
      <p:sp>
        <p:nvSpPr>
          <p:cNvPr id="7" name="Shape 5"/>
          <p:cNvSpPr/>
          <p:nvPr/>
        </p:nvSpPr>
        <p:spPr>
          <a:xfrm>
            <a:off x="658368" y="2615184"/>
            <a:ext cx="82296" cy="1572768"/>
          </a:xfrm>
          <a:prstGeom prst="rect">
            <a:avLst/>
          </a:prstGeom>
          <a:solidFill>
            <a:srgbClr val="22438F"/>
          </a:solidFill>
          <a:ln/>
        </p:spPr>
      </p:sp>
      <p:sp>
        <p:nvSpPr>
          <p:cNvPr id="8" name="Text 6"/>
          <p:cNvSpPr/>
          <p:nvPr/>
        </p:nvSpPr>
        <p:spPr>
          <a:xfrm>
            <a:off x="932688" y="2743200"/>
            <a:ext cx="548640" cy="365760"/>
          </a:xfrm>
          <a:prstGeom prst="rect">
            <a:avLst/>
          </a:prstGeom>
          <a:noFill/>
          <a:ln/>
        </p:spPr>
        <p:txBody>
          <a:bodyPr wrap="square" lIns="0" tIns="0" rIns="0" bIns="0" rtlCol="0" anchor="ctr"/>
          <a:lstStyle/>
          <a:p>
            <a:pPr marL="0" indent="0">
              <a:buNone/>
            </a:pPr>
            <a:r>
              <a:rPr lang="en-US" sz="1500" b="1" dirty="0">
                <a:solidFill>
                  <a:srgbClr val="32A849"/>
                </a:solidFill>
                <a:latin typeface="Century Gothic" pitchFamily="34" charset="0"/>
                <a:ea typeface="Century Gothic" pitchFamily="34" charset="-122"/>
                <a:cs typeface="Century Gothic" pitchFamily="34" charset="-120"/>
              </a:rPr>
              <a:t>01</a:t>
            </a:r>
            <a:endParaRPr lang="en-US" sz="1500" dirty="0"/>
          </a:p>
        </p:txBody>
      </p:sp>
      <p:sp>
        <p:nvSpPr>
          <p:cNvPr id="9" name="Text 7"/>
          <p:cNvSpPr/>
          <p:nvPr/>
        </p:nvSpPr>
        <p:spPr>
          <a:xfrm>
            <a:off x="1444752" y="2743200"/>
            <a:ext cx="2468880" cy="36576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Terminal standard</a:t>
            </a:r>
            <a:endParaRPr lang="en-US" sz="1350" dirty="0"/>
          </a:p>
        </p:txBody>
      </p:sp>
      <p:sp>
        <p:nvSpPr>
          <p:cNvPr id="10" name="Text 8"/>
          <p:cNvSpPr/>
          <p:nvPr/>
        </p:nvSpPr>
        <p:spPr>
          <a:xfrm>
            <a:off x="932688" y="3182112"/>
            <a:ext cx="2962656" cy="914400"/>
          </a:xfrm>
          <a:prstGeom prst="rect">
            <a:avLst/>
          </a:prstGeom>
          <a:noFill/>
          <a:ln/>
        </p:spPr>
        <p:txBody>
          <a:bodyPr wrap="square" lIns="0" tIns="0" rIns="0" bIns="0" rtlCol="0" anchor="t"/>
          <a:lstStyle/>
          <a:p>
            <a:pPr marL="0" indent="0">
              <a:lnSpc>
                <a:spcPts val="1500"/>
              </a:lnSpc>
              <a:buNone/>
            </a:pPr>
            <a:r>
              <a:rPr lang="en-US" sz="1150" dirty="0">
                <a:solidFill>
                  <a:srgbClr val="231F20"/>
                </a:solidFill>
                <a:latin typeface="Calibri" pitchFamily="34" charset="0"/>
                <a:ea typeface="Calibri" pitchFamily="34" charset="-122"/>
                <a:cs typeface="Calibri" pitchFamily="34" charset="-120"/>
              </a:rPr>
              <a:t>La solution doit fonctionner sur un smartphone Android ou un ordinateur sous Windows. Rien qui exige du matériel spécifique.</a:t>
            </a:r>
            <a:endParaRPr lang="en-US" sz="1150" dirty="0"/>
          </a:p>
        </p:txBody>
      </p:sp>
      <p:sp>
        <p:nvSpPr>
          <p:cNvPr id="11" name="Shape 9"/>
          <p:cNvSpPr/>
          <p:nvPr/>
        </p:nvSpPr>
        <p:spPr>
          <a:xfrm>
            <a:off x="4361688" y="2615184"/>
            <a:ext cx="3429000" cy="1572768"/>
          </a:xfrm>
          <a:prstGeom prst="rect">
            <a:avLst/>
          </a:prstGeom>
          <a:solidFill>
            <a:srgbClr val="FFFFFF"/>
          </a:solidFill>
          <a:ln w="9525">
            <a:solidFill>
              <a:srgbClr val="DCE2EE"/>
            </a:solidFill>
            <a:prstDash val="solid"/>
          </a:ln>
        </p:spPr>
      </p:sp>
      <p:sp>
        <p:nvSpPr>
          <p:cNvPr id="12" name="Shape 10"/>
          <p:cNvSpPr/>
          <p:nvPr/>
        </p:nvSpPr>
        <p:spPr>
          <a:xfrm>
            <a:off x="4361688" y="2615184"/>
            <a:ext cx="82296" cy="1572768"/>
          </a:xfrm>
          <a:prstGeom prst="rect">
            <a:avLst/>
          </a:prstGeom>
          <a:solidFill>
            <a:srgbClr val="22438F"/>
          </a:solidFill>
          <a:ln/>
        </p:spPr>
      </p:sp>
      <p:sp>
        <p:nvSpPr>
          <p:cNvPr id="13" name="Text 11"/>
          <p:cNvSpPr/>
          <p:nvPr/>
        </p:nvSpPr>
        <p:spPr>
          <a:xfrm>
            <a:off x="4636008" y="2743200"/>
            <a:ext cx="548640" cy="365760"/>
          </a:xfrm>
          <a:prstGeom prst="rect">
            <a:avLst/>
          </a:prstGeom>
          <a:noFill/>
          <a:ln/>
        </p:spPr>
        <p:txBody>
          <a:bodyPr wrap="square" lIns="0" tIns="0" rIns="0" bIns="0" rtlCol="0" anchor="ctr"/>
          <a:lstStyle/>
          <a:p>
            <a:pPr marL="0" indent="0">
              <a:buNone/>
            </a:pPr>
            <a:r>
              <a:rPr lang="en-US" sz="1500" b="1" dirty="0">
                <a:solidFill>
                  <a:srgbClr val="32A849"/>
                </a:solidFill>
                <a:latin typeface="Century Gothic" pitchFamily="34" charset="0"/>
                <a:ea typeface="Century Gothic" pitchFamily="34" charset="-122"/>
                <a:cs typeface="Century Gothic" pitchFamily="34" charset="-120"/>
              </a:rPr>
              <a:t>02</a:t>
            </a:r>
            <a:endParaRPr lang="en-US" sz="1500" dirty="0"/>
          </a:p>
        </p:txBody>
      </p:sp>
      <p:sp>
        <p:nvSpPr>
          <p:cNvPr id="14" name="Text 12"/>
          <p:cNvSpPr/>
          <p:nvPr/>
        </p:nvSpPr>
        <p:spPr>
          <a:xfrm>
            <a:off x="5148072" y="2743200"/>
            <a:ext cx="2468880" cy="36576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Mode dégradé</a:t>
            </a:r>
            <a:endParaRPr lang="en-US" sz="1350" dirty="0"/>
          </a:p>
        </p:txBody>
      </p:sp>
      <p:sp>
        <p:nvSpPr>
          <p:cNvPr id="15" name="Text 13"/>
          <p:cNvSpPr/>
          <p:nvPr/>
        </p:nvSpPr>
        <p:spPr>
          <a:xfrm>
            <a:off x="4636008" y="3182112"/>
            <a:ext cx="2962656" cy="914400"/>
          </a:xfrm>
          <a:prstGeom prst="rect">
            <a:avLst/>
          </a:prstGeom>
          <a:noFill/>
          <a:ln/>
        </p:spPr>
        <p:txBody>
          <a:bodyPr wrap="square" lIns="0" tIns="0" rIns="0" bIns="0" rtlCol="0" anchor="t"/>
          <a:lstStyle/>
          <a:p>
            <a:pPr marL="0" indent="0">
              <a:lnSpc>
                <a:spcPts val="1500"/>
              </a:lnSpc>
              <a:buNone/>
            </a:pPr>
            <a:r>
              <a:rPr lang="en-US" sz="1150" dirty="0">
                <a:solidFill>
                  <a:srgbClr val="231F20"/>
                </a:solidFill>
                <a:latin typeface="Calibri" pitchFamily="34" charset="0"/>
                <a:ea typeface="Calibri" pitchFamily="34" charset="-122"/>
                <a:cs typeface="Calibri" pitchFamily="34" charset="-120"/>
              </a:rPr>
              <a:t>Prévoir un fonctionnement en faible connectivité. Les caisses ne sont pas toutes reliées en permanence.</a:t>
            </a:r>
            <a:endParaRPr lang="en-US" sz="1150" dirty="0"/>
          </a:p>
        </p:txBody>
      </p:sp>
      <p:sp>
        <p:nvSpPr>
          <p:cNvPr id="16" name="Shape 14"/>
          <p:cNvSpPr/>
          <p:nvPr/>
        </p:nvSpPr>
        <p:spPr>
          <a:xfrm>
            <a:off x="8065008" y="2615184"/>
            <a:ext cx="3429000" cy="1572768"/>
          </a:xfrm>
          <a:prstGeom prst="rect">
            <a:avLst/>
          </a:prstGeom>
          <a:solidFill>
            <a:srgbClr val="FFFFFF"/>
          </a:solidFill>
          <a:ln w="9525">
            <a:solidFill>
              <a:srgbClr val="DCE2EE"/>
            </a:solidFill>
            <a:prstDash val="solid"/>
          </a:ln>
        </p:spPr>
      </p:sp>
      <p:sp>
        <p:nvSpPr>
          <p:cNvPr id="17" name="Shape 15"/>
          <p:cNvSpPr/>
          <p:nvPr/>
        </p:nvSpPr>
        <p:spPr>
          <a:xfrm>
            <a:off x="8065008" y="2615184"/>
            <a:ext cx="82296" cy="1572768"/>
          </a:xfrm>
          <a:prstGeom prst="rect">
            <a:avLst/>
          </a:prstGeom>
          <a:solidFill>
            <a:srgbClr val="22438F"/>
          </a:solidFill>
          <a:ln/>
        </p:spPr>
      </p:sp>
      <p:sp>
        <p:nvSpPr>
          <p:cNvPr id="18" name="Text 16"/>
          <p:cNvSpPr/>
          <p:nvPr/>
        </p:nvSpPr>
        <p:spPr>
          <a:xfrm>
            <a:off x="8339328" y="2743200"/>
            <a:ext cx="548640" cy="365760"/>
          </a:xfrm>
          <a:prstGeom prst="rect">
            <a:avLst/>
          </a:prstGeom>
          <a:noFill/>
          <a:ln/>
        </p:spPr>
        <p:txBody>
          <a:bodyPr wrap="square" lIns="0" tIns="0" rIns="0" bIns="0" rtlCol="0" anchor="ctr"/>
          <a:lstStyle/>
          <a:p>
            <a:pPr marL="0" indent="0">
              <a:buNone/>
            </a:pPr>
            <a:r>
              <a:rPr lang="en-US" sz="1500" b="1" dirty="0">
                <a:solidFill>
                  <a:srgbClr val="32A849"/>
                </a:solidFill>
                <a:latin typeface="Century Gothic" pitchFamily="34" charset="0"/>
                <a:ea typeface="Century Gothic" pitchFamily="34" charset="-122"/>
                <a:cs typeface="Century Gothic" pitchFamily="34" charset="-120"/>
              </a:rPr>
              <a:t>03</a:t>
            </a:r>
            <a:endParaRPr lang="en-US" sz="1500" dirty="0"/>
          </a:p>
        </p:txBody>
      </p:sp>
      <p:sp>
        <p:nvSpPr>
          <p:cNvPr id="19" name="Text 17"/>
          <p:cNvSpPr/>
          <p:nvPr/>
        </p:nvSpPr>
        <p:spPr>
          <a:xfrm>
            <a:off x="8851392" y="2743200"/>
            <a:ext cx="2468880" cy="36576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Aucune donnée réelle</a:t>
            </a:r>
            <a:endParaRPr lang="en-US" sz="1350" dirty="0"/>
          </a:p>
        </p:txBody>
      </p:sp>
      <p:sp>
        <p:nvSpPr>
          <p:cNvPr id="20" name="Text 18"/>
          <p:cNvSpPr/>
          <p:nvPr/>
        </p:nvSpPr>
        <p:spPr>
          <a:xfrm>
            <a:off x="8339328" y="3182112"/>
            <a:ext cx="2962656" cy="914400"/>
          </a:xfrm>
          <a:prstGeom prst="rect">
            <a:avLst/>
          </a:prstGeom>
          <a:noFill/>
          <a:ln/>
        </p:spPr>
        <p:txBody>
          <a:bodyPr wrap="square" lIns="0" tIns="0" rIns="0" bIns="0" rtlCol="0" anchor="t"/>
          <a:lstStyle/>
          <a:p>
            <a:pPr marL="0" indent="0">
              <a:lnSpc>
                <a:spcPts val="1500"/>
              </a:lnSpc>
              <a:buNone/>
            </a:pPr>
            <a:r>
              <a:rPr lang="en-US" sz="1150" dirty="0">
                <a:solidFill>
                  <a:srgbClr val="231F20"/>
                </a:solidFill>
                <a:latin typeface="Calibri" pitchFamily="34" charset="0"/>
                <a:ea typeface="Calibri" pitchFamily="34" charset="-122"/>
                <a:cs typeface="Calibri" pitchFamily="34" charset="-120"/>
              </a:rPr>
              <a:t>La solution ne peut s’appuyer sur des données personnelles réelles. Vous travaillez sur des données synthétiques.</a:t>
            </a:r>
            <a:endParaRPr lang="en-US" sz="1150" dirty="0"/>
          </a:p>
        </p:txBody>
      </p:sp>
      <p:sp>
        <p:nvSpPr>
          <p:cNvPr id="21" name="Shape 19"/>
          <p:cNvSpPr/>
          <p:nvPr/>
        </p:nvSpPr>
        <p:spPr>
          <a:xfrm>
            <a:off x="658368" y="4370832"/>
            <a:ext cx="3429000" cy="1572768"/>
          </a:xfrm>
          <a:prstGeom prst="rect">
            <a:avLst/>
          </a:prstGeom>
          <a:solidFill>
            <a:srgbClr val="FFFFFF"/>
          </a:solidFill>
          <a:ln w="9525">
            <a:solidFill>
              <a:srgbClr val="DCE2EE"/>
            </a:solidFill>
            <a:prstDash val="solid"/>
          </a:ln>
        </p:spPr>
      </p:sp>
      <p:sp>
        <p:nvSpPr>
          <p:cNvPr id="22" name="Shape 20"/>
          <p:cNvSpPr/>
          <p:nvPr/>
        </p:nvSpPr>
        <p:spPr>
          <a:xfrm>
            <a:off x="658368" y="4370832"/>
            <a:ext cx="82296" cy="1572768"/>
          </a:xfrm>
          <a:prstGeom prst="rect">
            <a:avLst/>
          </a:prstGeom>
          <a:solidFill>
            <a:srgbClr val="22438F"/>
          </a:solidFill>
          <a:ln/>
        </p:spPr>
      </p:sp>
      <p:sp>
        <p:nvSpPr>
          <p:cNvPr id="23" name="Text 21"/>
          <p:cNvSpPr/>
          <p:nvPr/>
        </p:nvSpPr>
        <p:spPr>
          <a:xfrm>
            <a:off x="932688" y="4498848"/>
            <a:ext cx="548640" cy="365760"/>
          </a:xfrm>
          <a:prstGeom prst="rect">
            <a:avLst/>
          </a:prstGeom>
          <a:noFill/>
          <a:ln/>
        </p:spPr>
        <p:txBody>
          <a:bodyPr wrap="square" lIns="0" tIns="0" rIns="0" bIns="0" rtlCol="0" anchor="ctr"/>
          <a:lstStyle/>
          <a:p>
            <a:pPr marL="0" indent="0">
              <a:buNone/>
            </a:pPr>
            <a:r>
              <a:rPr lang="en-US" sz="1500" b="1" dirty="0">
                <a:solidFill>
                  <a:srgbClr val="32A849"/>
                </a:solidFill>
                <a:latin typeface="Century Gothic" pitchFamily="34" charset="0"/>
                <a:ea typeface="Century Gothic" pitchFamily="34" charset="-122"/>
                <a:cs typeface="Century Gothic" pitchFamily="34" charset="-120"/>
              </a:rPr>
              <a:t>04</a:t>
            </a:r>
            <a:endParaRPr lang="en-US" sz="1500" dirty="0"/>
          </a:p>
        </p:txBody>
      </p:sp>
      <p:sp>
        <p:nvSpPr>
          <p:cNvPr id="24" name="Text 22"/>
          <p:cNvSpPr/>
          <p:nvPr/>
        </p:nvSpPr>
        <p:spPr>
          <a:xfrm>
            <a:off x="1444752" y="4498848"/>
            <a:ext cx="2468880" cy="36576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Code versionné</a:t>
            </a:r>
            <a:endParaRPr lang="en-US" sz="1350" dirty="0"/>
          </a:p>
        </p:txBody>
      </p:sp>
      <p:sp>
        <p:nvSpPr>
          <p:cNvPr id="25" name="Text 23"/>
          <p:cNvSpPr/>
          <p:nvPr/>
        </p:nvSpPr>
        <p:spPr>
          <a:xfrm>
            <a:off x="932688" y="4937760"/>
            <a:ext cx="2962656" cy="914400"/>
          </a:xfrm>
          <a:prstGeom prst="rect">
            <a:avLst/>
          </a:prstGeom>
          <a:noFill/>
          <a:ln/>
        </p:spPr>
        <p:txBody>
          <a:bodyPr wrap="square" lIns="0" tIns="0" rIns="0" bIns="0" rtlCol="0" anchor="t"/>
          <a:lstStyle/>
          <a:p>
            <a:pPr marL="0" indent="0">
              <a:lnSpc>
                <a:spcPts val="1500"/>
              </a:lnSpc>
              <a:buNone/>
            </a:pPr>
            <a:r>
              <a:rPr lang="en-US" sz="1150" dirty="0">
                <a:solidFill>
                  <a:srgbClr val="231F20"/>
                </a:solidFill>
                <a:latin typeface="Calibri" pitchFamily="34" charset="0"/>
                <a:ea typeface="Calibri" pitchFamily="34" charset="-122"/>
                <a:cs typeface="Calibri" pitchFamily="34" charset="-120"/>
              </a:rPr>
              <a:t>Le code source doit être versionné et documenté, avec un fichier README lisible par un tiers.</a:t>
            </a:r>
            <a:endParaRPr lang="en-US" sz="1150" dirty="0"/>
          </a:p>
        </p:txBody>
      </p:sp>
      <p:sp>
        <p:nvSpPr>
          <p:cNvPr id="26" name="Shape 24"/>
          <p:cNvSpPr/>
          <p:nvPr/>
        </p:nvSpPr>
        <p:spPr>
          <a:xfrm>
            <a:off x="4361688" y="4370832"/>
            <a:ext cx="3429000" cy="1572768"/>
          </a:xfrm>
          <a:prstGeom prst="rect">
            <a:avLst/>
          </a:prstGeom>
          <a:solidFill>
            <a:srgbClr val="FFFFFF"/>
          </a:solidFill>
          <a:ln w="9525">
            <a:solidFill>
              <a:srgbClr val="DCE2EE"/>
            </a:solidFill>
            <a:prstDash val="solid"/>
          </a:ln>
        </p:spPr>
      </p:sp>
      <p:sp>
        <p:nvSpPr>
          <p:cNvPr id="27" name="Shape 25"/>
          <p:cNvSpPr/>
          <p:nvPr/>
        </p:nvSpPr>
        <p:spPr>
          <a:xfrm>
            <a:off x="4361688" y="4370832"/>
            <a:ext cx="82296" cy="1572768"/>
          </a:xfrm>
          <a:prstGeom prst="rect">
            <a:avLst/>
          </a:prstGeom>
          <a:solidFill>
            <a:srgbClr val="B51F24"/>
          </a:solidFill>
          <a:ln/>
        </p:spPr>
      </p:sp>
      <p:sp>
        <p:nvSpPr>
          <p:cNvPr id="28" name="Text 26"/>
          <p:cNvSpPr/>
          <p:nvPr/>
        </p:nvSpPr>
        <p:spPr>
          <a:xfrm>
            <a:off x="4636008" y="4498848"/>
            <a:ext cx="548640" cy="365760"/>
          </a:xfrm>
          <a:prstGeom prst="rect">
            <a:avLst/>
          </a:prstGeom>
          <a:noFill/>
          <a:ln/>
        </p:spPr>
        <p:txBody>
          <a:bodyPr wrap="square" lIns="0" tIns="0" rIns="0" bIns="0" rtlCol="0" anchor="ctr"/>
          <a:lstStyle/>
          <a:p>
            <a:pPr marL="0" indent="0">
              <a:buNone/>
            </a:pPr>
            <a:r>
              <a:rPr lang="en-US" sz="1500" b="1" dirty="0">
                <a:solidFill>
                  <a:srgbClr val="B51F24"/>
                </a:solidFill>
                <a:latin typeface="Century Gothic" pitchFamily="34" charset="0"/>
                <a:ea typeface="Century Gothic" pitchFamily="34" charset="-122"/>
                <a:cs typeface="Century Gothic" pitchFamily="34" charset="-120"/>
              </a:rPr>
              <a:t>05</a:t>
            </a:r>
            <a:endParaRPr lang="en-US" sz="1500" dirty="0"/>
          </a:p>
        </p:txBody>
      </p:sp>
      <p:sp>
        <p:nvSpPr>
          <p:cNvPr id="29" name="Text 27"/>
          <p:cNvSpPr/>
          <p:nvPr/>
        </p:nvSpPr>
        <p:spPr>
          <a:xfrm>
            <a:off x="5148072" y="4498848"/>
            <a:ext cx="2468880" cy="365760"/>
          </a:xfrm>
          <a:prstGeom prst="rect">
            <a:avLst/>
          </a:prstGeom>
          <a:noFill/>
          <a:ln/>
        </p:spPr>
        <p:txBody>
          <a:bodyPr wrap="square" lIns="0" tIns="0" rIns="0" bIns="0" rtlCol="0" anchor="ctr"/>
          <a:lstStyle/>
          <a:p>
            <a:pPr marL="0" indent="0">
              <a:buNone/>
            </a:pPr>
            <a:r>
              <a:rPr lang="en-US" sz="1350" b="1" dirty="0">
                <a:solidFill>
                  <a:srgbClr val="231F20"/>
                </a:solidFill>
                <a:latin typeface="Century Gothic" pitchFamily="34" charset="0"/>
                <a:ea typeface="Century Gothic" pitchFamily="34" charset="-122"/>
                <a:cs typeface="Century Gothic" pitchFamily="34" charset="-120"/>
              </a:rPr>
              <a:t>Démonstration live</a:t>
            </a:r>
            <a:endParaRPr lang="en-US" sz="1350" dirty="0"/>
          </a:p>
        </p:txBody>
      </p:sp>
      <p:sp>
        <p:nvSpPr>
          <p:cNvPr id="30" name="Text 28"/>
          <p:cNvSpPr/>
          <p:nvPr/>
        </p:nvSpPr>
        <p:spPr>
          <a:xfrm>
            <a:off x="4636008" y="4937760"/>
            <a:ext cx="2962656" cy="914400"/>
          </a:xfrm>
          <a:prstGeom prst="rect">
            <a:avLst/>
          </a:prstGeom>
          <a:noFill/>
          <a:ln/>
        </p:spPr>
        <p:txBody>
          <a:bodyPr wrap="square" lIns="0" tIns="0" rIns="0" bIns="0" rtlCol="0" anchor="t"/>
          <a:lstStyle/>
          <a:p>
            <a:pPr marL="0" indent="0">
              <a:lnSpc>
                <a:spcPts val="1500"/>
              </a:lnSpc>
              <a:buNone/>
            </a:pPr>
            <a:r>
              <a:rPr lang="en-US" sz="1150" dirty="0">
                <a:solidFill>
                  <a:srgbClr val="231F20"/>
                </a:solidFill>
                <a:latin typeface="Calibri" pitchFamily="34" charset="0"/>
                <a:ea typeface="Calibri" pitchFamily="34" charset="-122"/>
                <a:cs typeface="Calibri" pitchFamily="34" charset="-120"/>
              </a:rPr>
              <a:t>La présentation finale inclut obligatoirement une démonstration en direct. Des diapositives seules ne suffisent pas.</a:t>
            </a:r>
            <a:endParaRPr lang="en-US" sz="1150" dirty="0"/>
          </a:p>
        </p:txBody>
      </p:sp>
      <p:sp>
        <p:nvSpPr>
          <p:cNvPr id="31" name="Shape 29"/>
          <p:cNvSpPr/>
          <p:nvPr/>
        </p:nvSpPr>
        <p:spPr>
          <a:xfrm>
            <a:off x="8065008" y="4370832"/>
            <a:ext cx="3474720" cy="1572768"/>
          </a:xfrm>
          <a:prstGeom prst="rect">
            <a:avLst/>
          </a:prstGeom>
          <a:solidFill>
            <a:srgbClr val="22438F"/>
          </a:solidFill>
          <a:ln/>
        </p:spPr>
      </p:sp>
      <p:sp>
        <p:nvSpPr>
          <p:cNvPr id="32" name="Text 30"/>
          <p:cNvSpPr/>
          <p:nvPr/>
        </p:nvSpPr>
        <p:spPr>
          <a:xfrm>
            <a:off x="8339328" y="4480560"/>
            <a:ext cx="2962656" cy="512064"/>
          </a:xfrm>
          <a:prstGeom prst="rect">
            <a:avLst/>
          </a:prstGeom>
          <a:noFill/>
          <a:ln/>
        </p:spPr>
        <p:txBody>
          <a:bodyPr wrap="square" lIns="0" tIns="0" rIns="0" bIns="0" rtlCol="0" anchor="t"/>
          <a:lstStyle/>
          <a:p>
            <a:pPr marL="0" indent="0">
              <a:lnSpc>
                <a:spcPts val="1700"/>
              </a:lnSpc>
              <a:buNone/>
            </a:pPr>
            <a:r>
              <a:rPr lang="en-US" sz="1300" b="1" dirty="0">
                <a:solidFill>
                  <a:srgbClr val="E8B305"/>
                </a:solidFill>
                <a:latin typeface="Century Gothic" pitchFamily="34" charset="0"/>
                <a:ea typeface="Century Gothic" pitchFamily="34" charset="-122"/>
                <a:cs typeface="Century Gothic" pitchFamily="34" charset="-120"/>
              </a:rPr>
              <a:t>Ces contraintes décrivent la réalité des caisses</a:t>
            </a:r>
            <a:endParaRPr lang="en-US" sz="1300" dirty="0"/>
          </a:p>
        </p:txBody>
      </p:sp>
      <p:sp>
        <p:nvSpPr>
          <p:cNvPr id="33" name="Text 31"/>
          <p:cNvSpPr/>
          <p:nvPr/>
        </p:nvSpPr>
        <p:spPr>
          <a:xfrm>
            <a:off x="8339328" y="5029200"/>
            <a:ext cx="2962656" cy="822960"/>
          </a:xfrm>
          <a:prstGeom prst="rect">
            <a:avLst/>
          </a:prstGeom>
          <a:noFill/>
          <a:ln/>
        </p:spPr>
        <p:txBody>
          <a:bodyPr wrap="square" lIns="0" tIns="0" rIns="0" bIns="0" rtlCol="0" anchor="t"/>
          <a:lstStyle/>
          <a:p>
            <a:pPr marL="0" indent="0">
              <a:lnSpc>
                <a:spcPts val="1500"/>
              </a:lnSpc>
              <a:buNone/>
            </a:pPr>
            <a:r>
              <a:rPr lang="en-US" sz="1150" dirty="0">
                <a:solidFill>
                  <a:srgbClr val="FFFFFF"/>
                </a:solidFill>
                <a:latin typeface="Calibri" pitchFamily="34" charset="0"/>
                <a:ea typeface="Calibri" pitchFamily="34" charset="-122"/>
                <a:cs typeface="Calibri" pitchFamily="34" charset="-120"/>
              </a:rPr>
              <a:t>Un agent de crédit travaille sur un Android d’entrée de gamme, parfois hors ligne, dans une caisse éloignée du siège. Une solution qui suppose l’inverse ne sera pas déployable.</a:t>
            </a:r>
            <a:endParaRPr lang="en-US" sz="1150" dirty="0"/>
          </a:p>
        </p:txBody>
      </p:sp>
      <p:sp>
        <p:nvSpPr>
          <p:cNvPr id="34" name="Text 32"/>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35" name="Text 33"/>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 : Guide méthodologique, contraintes techniques.</a:t>
            </a:r>
            <a:endParaRPr lang="en-US" sz="900" dirty="0"/>
          </a:p>
        </p:txBody>
      </p:sp>
      <p:sp>
        <p:nvSpPr>
          <p:cNvPr id="36" name="Text 34"/>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B51F24"/>
                </a:solidFill>
                <a:latin typeface="Century Gothic" pitchFamily="34" charset="0"/>
                <a:ea typeface="Century Gothic" pitchFamily="34" charset="-122"/>
                <a:cs typeface="Century Gothic" pitchFamily="34" charset="-120"/>
              </a:rPr>
              <a:t>LA QUESTION LA PLUS POSÉE</a:t>
            </a:r>
            <a:endParaRPr lang="en-US" sz="1250" dirty="0"/>
          </a:p>
        </p:txBody>
      </p:sp>
      <p:sp>
        <p:nvSpPr>
          <p:cNvPr id="3" name="Shape 1"/>
          <p:cNvSpPr/>
          <p:nvPr/>
        </p:nvSpPr>
        <p:spPr>
          <a:xfrm>
            <a:off x="-548640" y="1024128"/>
            <a:ext cx="10607040" cy="804672"/>
          </a:xfrm>
          <a:prstGeom prst="roundRect">
            <a:avLst>
              <a:gd name="adj" fmla="val 50000"/>
            </a:avLst>
          </a:prstGeom>
          <a:solidFill>
            <a:srgbClr val="22438F"/>
          </a:solidFill>
          <a:ln/>
        </p:spPr>
      </p:sp>
      <p:sp>
        <p:nvSpPr>
          <p:cNvPr id="4" name="Text 2"/>
          <p:cNvSpPr/>
          <p:nvPr/>
        </p:nvSpPr>
        <p:spPr>
          <a:xfrm>
            <a:off x="658368" y="1024128"/>
            <a:ext cx="9144000" cy="804672"/>
          </a:xfrm>
          <a:prstGeom prst="rect">
            <a:avLst/>
          </a:prstGeom>
          <a:noFill/>
          <a:ln/>
        </p:spPr>
        <p:txBody>
          <a:bodyPr wrap="square" lIns="0" tIns="0" rIns="0" bIns="0" rtlCol="0" anchor="ctr"/>
          <a:lstStyle/>
          <a:p>
            <a:pPr marL="0" indent="0">
              <a:buNone/>
            </a:pPr>
            <a:r>
              <a:rPr lang="en-US" sz="2200" b="1" dirty="0">
                <a:solidFill>
                  <a:srgbClr val="FFFFFF"/>
                </a:solidFill>
                <a:latin typeface="Century Gothic" pitchFamily="34" charset="0"/>
                <a:ea typeface="Century Gothic" pitchFamily="34" charset="-122"/>
                <a:cs typeface="Century Gothic" pitchFamily="34" charset="-120"/>
              </a:rPr>
              <a:t>Les données : ce que vous aurez, ce que vous n’aurez pas</a:t>
            </a:r>
            <a:endParaRPr lang="en-US" sz="2200" dirty="0"/>
          </a:p>
        </p:txBody>
      </p:sp>
      <p:sp>
        <p:nvSpPr>
          <p:cNvPr id="5" name="Shape 3"/>
          <p:cNvSpPr/>
          <p:nvPr/>
        </p:nvSpPr>
        <p:spPr>
          <a:xfrm>
            <a:off x="658368" y="2157984"/>
            <a:ext cx="5303520" cy="2286000"/>
          </a:xfrm>
          <a:prstGeom prst="rect">
            <a:avLst/>
          </a:prstGeom>
          <a:solidFill>
            <a:srgbClr val="FFFFFF"/>
          </a:solidFill>
          <a:ln w="9525">
            <a:solidFill>
              <a:srgbClr val="DCE2EE"/>
            </a:solidFill>
            <a:prstDash val="solid"/>
          </a:ln>
        </p:spPr>
      </p:sp>
      <p:sp>
        <p:nvSpPr>
          <p:cNvPr id="6" name="Shape 4"/>
          <p:cNvSpPr/>
          <p:nvPr/>
        </p:nvSpPr>
        <p:spPr>
          <a:xfrm>
            <a:off x="658368" y="2157984"/>
            <a:ext cx="82296" cy="2286000"/>
          </a:xfrm>
          <a:prstGeom prst="rect">
            <a:avLst/>
          </a:prstGeom>
          <a:solidFill>
            <a:srgbClr val="B51F24"/>
          </a:solidFill>
          <a:ln/>
        </p:spPr>
      </p:sp>
      <p:sp>
        <p:nvSpPr>
          <p:cNvPr id="7" name="Text 5"/>
          <p:cNvSpPr/>
          <p:nvPr/>
        </p:nvSpPr>
        <p:spPr>
          <a:xfrm>
            <a:off x="932688" y="2304288"/>
            <a:ext cx="4800600" cy="384048"/>
          </a:xfrm>
          <a:prstGeom prst="rect">
            <a:avLst/>
          </a:prstGeom>
          <a:noFill/>
          <a:ln/>
        </p:spPr>
        <p:txBody>
          <a:bodyPr wrap="square" lIns="0" tIns="0" rIns="0" bIns="0" rtlCol="0" anchor="ctr"/>
          <a:lstStyle/>
          <a:p>
            <a:pPr marL="0" indent="0">
              <a:buNone/>
            </a:pPr>
            <a:r>
              <a:rPr lang="en-US" sz="1350" b="1" dirty="0">
                <a:solidFill>
                  <a:srgbClr val="B51F24"/>
                </a:solidFill>
                <a:latin typeface="Century Gothic" pitchFamily="34" charset="0"/>
                <a:ea typeface="Century Gothic" pitchFamily="34" charset="-122"/>
                <a:cs typeface="Century Gothic" pitchFamily="34" charset="-120"/>
              </a:rPr>
              <a:t>CE QUE VOUS N’AUREZ PAS</a:t>
            </a:r>
            <a:endParaRPr lang="en-US" sz="1350" dirty="0"/>
          </a:p>
        </p:txBody>
      </p:sp>
      <p:sp>
        <p:nvSpPr>
          <p:cNvPr id="8" name="Text 6"/>
          <p:cNvSpPr/>
          <p:nvPr/>
        </p:nvSpPr>
        <p:spPr>
          <a:xfrm>
            <a:off x="932688" y="2633472"/>
            <a:ext cx="4791456" cy="1691640"/>
          </a:xfrm>
          <a:prstGeom prst="rect">
            <a:avLst/>
          </a:prstGeom>
          <a:noFill/>
          <a:ln/>
        </p:spPr>
        <p:txBody>
          <a:bodyPr wrap="square" lIns="0" tIns="0" rIns="0" bIns="0" rtlCol="0" anchor="t"/>
          <a:lstStyle/>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Aucun jeu de données anonymisé issu du réseau CIF ne sera fourni.</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Aucun dictionnaire de données des SFD membres.</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Aucune grille de notation manuelle existante : les agents de crédit n’en utilisent pas.</a:t>
            </a:r>
            <a:endParaRPr lang="en-US" sz="1250" dirty="0"/>
          </a:p>
        </p:txBody>
      </p:sp>
      <p:sp>
        <p:nvSpPr>
          <p:cNvPr id="9" name="Shape 7"/>
          <p:cNvSpPr/>
          <p:nvPr/>
        </p:nvSpPr>
        <p:spPr>
          <a:xfrm>
            <a:off x="6236208" y="2157984"/>
            <a:ext cx="5303520" cy="2286000"/>
          </a:xfrm>
          <a:prstGeom prst="rect">
            <a:avLst/>
          </a:prstGeom>
          <a:solidFill>
            <a:srgbClr val="FFFFFF"/>
          </a:solidFill>
          <a:ln w="9525">
            <a:solidFill>
              <a:srgbClr val="DCE2EE"/>
            </a:solidFill>
            <a:prstDash val="solid"/>
          </a:ln>
        </p:spPr>
      </p:sp>
      <p:sp>
        <p:nvSpPr>
          <p:cNvPr id="10" name="Shape 8"/>
          <p:cNvSpPr/>
          <p:nvPr/>
        </p:nvSpPr>
        <p:spPr>
          <a:xfrm>
            <a:off x="6236208" y="2157984"/>
            <a:ext cx="82296" cy="2286000"/>
          </a:xfrm>
          <a:prstGeom prst="rect">
            <a:avLst/>
          </a:prstGeom>
          <a:solidFill>
            <a:srgbClr val="32A849"/>
          </a:solidFill>
          <a:ln/>
        </p:spPr>
      </p:sp>
      <p:sp>
        <p:nvSpPr>
          <p:cNvPr id="11" name="Text 9"/>
          <p:cNvSpPr/>
          <p:nvPr/>
        </p:nvSpPr>
        <p:spPr>
          <a:xfrm>
            <a:off x="6510528" y="2304288"/>
            <a:ext cx="4800600" cy="384048"/>
          </a:xfrm>
          <a:prstGeom prst="rect">
            <a:avLst/>
          </a:prstGeom>
          <a:noFill/>
          <a:ln/>
        </p:spPr>
        <p:txBody>
          <a:bodyPr wrap="square" lIns="0" tIns="0" rIns="0" bIns="0" rtlCol="0" anchor="ctr"/>
          <a:lstStyle/>
          <a:p>
            <a:pPr marL="0" indent="0">
              <a:buNone/>
            </a:pPr>
            <a:r>
              <a:rPr lang="en-US" sz="1350" b="1" dirty="0">
                <a:solidFill>
                  <a:srgbClr val="32A849"/>
                </a:solidFill>
                <a:latin typeface="Century Gothic" pitchFamily="34" charset="0"/>
                <a:ea typeface="Century Gothic" pitchFamily="34" charset="-122"/>
                <a:cs typeface="Century Gothic" pitchFamily="34" charset="-120"/>
              </a:rPr>
              <a:t>CE QUE VOUS AUREZ</a:t>
            </a:r>
            <a:endParaRPr lang="en-US" sz="1350" dirty="0"/>
          </a:p>
        </p:txBody>
      </p:sp>
      <p:sp>
        <p:nvSpPr>
          <p:cNvPr id="12" name="Text 10"/>
          <p:cNvSpPr/>
          <p:nvPr/>
        </p:nvSpPr>
        <p:spPr>
          <a:xfrm>
            <a:off x="6510528" y="2633472"/>
            <a:ext cx="4791456" cy="1691640"/>
          </a:xfrm>
          <a:prstGeom prst="rect">
            <a:avLst/>
          </a:prstGeom>
          <a:noFill/>
          <a:ln/>
        </p:spPr>
        <p:txBody>
          <a:bodyPr wrap="square" lIns="0" tIns="0" rIns="0" bIns="0" rtlCol="0" anchor="t"/>
          <a:lstStyle/>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 espace cloud partagé mis à disposition pendant l’événement.</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Des spécialistes métier CIF présents sur place pour cadrer vos hypothèses.</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Une bibliothèque documentaire : réglementation BCEAO, normes LBC/FT UEMOA.</a:t>
            </a:r>
            <a:endParaRPr lang="en-US" sz="1250" dirty="0"/>
          </a:p>
        </p:txBody>
      </p:sp>
      <p:sp>
        <p:nvSpPr>
          <p:cNvPr id="13" name="Shape 11"/>
          <p:cNvSpPr/>
          <p:nvPr/>
        </p:nvSpPr>
        <p:spPr>
          <a:xfrm>
            <a:off x="658368" y="4626864"/>
            <a:ext cx="10881360" cy="1481328"/>
          </a:xfrm>
          <a:prstGeom prst="rect">
            <a:avLst/>
          </a:prstGeom>
          <a:solidFill>
            <a:srgbClr val="22438F"/>
          </a:solidFill>
          <a:ln/>
        </p:spPr>
      </p:sp>
      <p:sp>
        <p:nvSpPr>
          <p:cNvPr id="14" name="Text 12"/>
          <p:cNvSpPr/>
          <p:nvPr/>
        </p:nvSpPr>
        <p:spPr>
          <a:xfrm>
            <a:off x="969264" y="4773168"/>
            <a:ext cx="10241280" cy="347472"/>
          </a:xfrm>
          <a:prstGeom prst="rect">
            <a:avLst/>
          </a:prstGeom>
          <a:noFill/>
          <a:ln/>
        </p:spPr>
        <p:txBody>
          <a:bodyPr wrap="square" lIns="0" tIns="0" rIns="0" bIns="0" rtlCol="0" anchor="ctr"/>
          <a:lstStyle/>
          <a:p>
            <a:pPr marL="0" indent="0">
              <a:buNone/>
            </a:pPr>
            <a:r>
              <a:rPr lang="en-US" sz="1600" b="1" dirty="0">
                <a:solidFill>
                  <a:srgbClr val="E8B305"/>
                </a:solidFill>
                <a:latin typeface="Century Gothic" pitchFamily="34" charset="0"/>
                <a:ea typeface="Century Gothic" pitchFamily="34" charset="-122"/>
                <a:cs typeface="Century Gothic" pitchFamily="34" charset="-120"/>
              </a:rPr>
              <a:t>Chaque équipe constitue ses propres données</a:t>
            </a:r>
            <a:endParaRPr lang="en-US" sz="1600" dirty="0"/>
          </a:p>
        </p:txBody>
      </p:sp>
      <p:sp>
        <p:nvSpPr>
          <p:cNvPr id="15" name="Text 13"/>
          <p:cNvSpPr/>
          <p:nvPr/>
        </p:nvSpPr>
        <p:spPr>
          <a:xfrm>
            <a:off x="969264" y="5138928"/>
            <a:ext cx="10277856" cy="859536"/>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Données simulées ou publiques, construites par vos soins. Ce n’est pas un handicap : le jury note la pertinence de vos hypothèses et la façon dont vous documentez la construction de votre jeu de données. Une équipe qui explique clairement ses variables, ses volumes et sa variable cible prend l’avantage sur une équipe qui les subit.</a:t>
            </a:r>
            <a:endParaRPr lang="en-US" sz="1250" dirty="0"/>
          </a:p>
        </p:txBody>
      </p:sp>
      <p:sp>
        <p:nvSpPr>
          <p:cNvPr id="16" name="Text 14"/>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17" name="Text 15"/>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 : réponses de la CIF au suivi des questions candidats.</a:t>
            </a:r>
            <a:endParaRPr lang="en-US" sz="900" dirty="0"/>
          </a:p>
        </p:txBody>
      </p:sp>
      <p:sp>
        <p:nvSpPr>
          <p:cNvPr id="18" name="Text 16"/>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B51F24"/>
                </a:solidFill>
                <a:latin typeface="Century Gothic" pitchFamily="34" charset="0"/>
                <a:ea typeface="Century Gothic" pitchFamily="34" charset="-122"/>
                <a:cs typeface="Century Gothic" pitchFamily="34" charset="-120"/>
              </a:rPr>
              <a:t>LE MOMENT DE VÉRITÉ</a:t>
            </a:r>
            <a:endParaRPr lang="en-US" sz="1250" dirty="0"/>
          </a:p>
        </p:txBody>
      </p:sp>
      <p:sp>
        <p:nvSpPr>
          <p:cNvPr id="3" name="Shape 1"/>
          <p:cNvSpPr/>
          <p:nvPr/>
        </p:nvSpPr>
        <p:spPr>
          <a:xfrm>
            <a:off x="-548640" y="1024128"/>
            <a:ext cx="7132320" cy="804672"/>
          </a:xfrm>
          <a:prstGeom prst="roundRect">
            <a:avLst>
              <a:gd name="adj" fmla="val 50000"/>
            </a:avLst>
          </a:prstGeom>
          <a:solidFill>
            <a:srgbClr val="B51F24"/>
          </a:solidFill>
          <a:ln/>
        </p:spPr>
      </p:sp>
      <p:sp>
        <p:nvSpPr>
          <p:cNvPr id="4" name="Text 2"/>
          <p:cNvSpPr/>
          <p:nvPr/>
        </p:nvSpPr>
        <p:spPr>
          <a:xfrm>
            <a:off x="658368" y="1024128"/>
            <a:ext cx="5669280" cy="804672"/>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Dix minutes devant le jury</a:t>
            </a:r>
            <a:endParaRPr lang="en-US" sz="2600" dirty="0"/>
          </a:p>
        </p:txBody>
      </p:sp>
      <p:sp>
        <p:nvSpPr>
          <p:cNvPr id="5" name="Shape 3"/>
          <p:cNvSpPr/>
          <p:nvPr/>
        </p:nvSpPr>
        <p:spPr>
          <a:xfrm>
            <a:off x="658368" y="2157984"/>
            <a:ext cx="8705088" cy="822960"/>
          </a:xfrm>
          <a:prstGeom prst="rect">
            <a:avLst/>
          </a:prstGeom>
          <a:solidFill>
            <a:srgbClr val="22438F"/>
          </a:solidFill>
          <a:ln/>
        </p:spPr>
      </p:sp>
      <p:sp>
        <p:nvSpPr>
          <p:cNvPr id="6" name="Shape 4"/>
          <p:cNvSpPr/>
          <p:nvPr/>
        </p:nvSpPr>
        <p:spPr>
          <a:xfrm>
            <a:off x="9363456" y="2157984"/>
            <a:ext cx="2176272" cy="822960"/>
          </a:xfrm>
          <a:prstGeom prst="rect">
            <a:avLst/>
          </a:prstGeom>
          <a:solidFill>
            <a:srgbClr val="B51F24"/>
          </a:solidFill>
          <a:ln/>
        </p:spPr>
      </p:sp>
      <p:sp>
        <p:nvSpPr>
          <p:cNvPr id="7" name="Text 5"/>
          <p:cNvSpPr/>
          <p:nvPr/>
        </p:nvSpPr>
        <p:spPr>
          <a:xfrm>
            <a:off x="658368" y="2157984"/>
            <a:ext cx="8705088"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Gothic" pitchFamily="34" charset="0"/>
                <a:ea typeface="Century Gothic" pitchFamily="34" charset="-122"/>
                <a:cs typeface="Century Gothic" pitchFamily="34" charset="-120"/>
              </a:rPr>
              <a:t>8 minutes de présentation</a:t>
            </a:r>
            <a:endParaRPr lang="en-US" sz="1800" dirty="0"/>
          </a:p>
        </p:txBody>
      </p:sp>
      <p:sp>
        <p:nvSpPr>
          <p:cNvPr id="8" name="Text 6"/>
          <p:cNvSpPr/>
          <p:nvPr/>
        </p:nvSpPr>
        <p:spPr>
          <a:xfrm>
            <a:off x="9363456" y="2157984"/>
            <a:ext cx="2176272"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2 min de Q&amp;R</a:t>
            </a:r>
            <a:endParaRPr lang="en-US" sz="1400" dirty="0"/>
          </a:p>
        </p:txBody>
      </p:sp>
      <p:sp>
        <p:nvSpPr>
          <p:cNvPr id="9" name="Shape 7"/>
          <p:cNvSpPr/>
          <p:nvPr/>
        </p:nvSpPr>
        <p:spPr>
          <a:xfrm>
            <a:off x="658368" y="3255264"/>
            <a:ext cx="5303520" cy="2286000"/>
          </a:xfrm>
          <a:prstGeom prst="rect">
            <a:avLst/>
          </a:prstGeom>
          <a:solidFill>
            <a:srgbClr val="FFFFFF"/>
          </a:solidFill>
          <a:ln w="9525">
            <a:solidFill>
              <a:srgbClr val="DCE2EE"/>
            </a:solidFill>
            <a:prstDash val="solid"/>
          </a:ln>
        </p:spPr>
      </p:sp>
      <p:sp>
        <p:nvSpPr>
          <p:cNvPr id="10" name="Shape 8"/>
          <p:cNvSpPr/>
          <p:nvPr/>
        </p:nvSpPr>
        <p:spPr>
          <a:xfrm>
            <a:off x="658368" y="3255264"/>
            <a:ext cx="82296" cy="2286000"/>
          </a:xfrm>
          <a:prstGeom prst="rect">
            <a:avLst/>
          </a:prstGeom>
          <a:solidFill>
            <a:srgbClr val="32A849"/>
          </a:solidFill>
          <a:ln/>
        </p:spPr>
      </p:sp>
      <p:sp>
        <p:nvSpPr>
          <p:cNvPr id="11" name="Text 9"/>
          <p:cNvSpPr/>
          <p:nvPr/>
        </p:nvSpPr>
        <p:spPr>
          <a:xfrm>
            <a:off x="932688" y="3401568"/>
            <a:ext cx="4800600" cy="384048"/>
          </a:xfrm>
          <a:prstGeom prst="rect">
            <a:avLst/>
          </a:prstGeom>
          <a:noFill/>
          <a:ln/>
        </p:spPr>
        <p:txBody>
          <a:bodyPr wrap="square" lIns="0" tIns="0" rIns="0" bIns="0" rtlCol="0" anchor="ctr"/>
          <a:lstStyle/>
          <a:p>
            <a:pPr marL="0" indent="0">
              <a:buNone/>
            </a:pPr>
            <a:r>
              <a:rPr lang="en-US" sz="1350" b="1" dirty="0">
                <a:solidFill>
                  <a:srgbClr val="32A849"/>
                </a:solidFill>
                <a:latin typeface="Century Gothic" pitchFamily="34" charset="0"/>
                <a:ea typeface="Century Gothic" pitchFamily="34" charset="-122"/>
                <a:cs typeface="Century Gothic" pitchFamily="34" charset="-120"/>
              </a:rPr>
              <a:t>CE QUE LE JURY ATTEND</a:t>
            </a:r>
            <a:endParaRPr lang="en-US" sz="1350" dirty="0"/>
          </a:p>
        </p:txBody>
      </p:sp>
      <p:sp>
        <p:nvSpPr>
          <p:cNvPr id="12" name="Text 10"/>
          <p:cNvSpPr/>
          <p:nvPr/>
        </p:nvSpPr>
        <p:spPr>
          <a:xfrm>
            <a:off x="932688" y="3730752"/>
            <a:ext cx="4791456" cy="2011680"/>
          </a:xfrm>
          <a:prstGeom prst="rect">
            <a:avLst/>
          </a:prstGeom>
          <a:noFill/>
          <a:ln/>
        </p:spPr>
        <p:txBody>
          <a:bodyPr wrap="square" lIns="0" tIns="0" rIns="0" bIns="0" rtlCol="0" anchor="t"/>
          <a:lstStyle/>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Une démonstration live du prototype, pas seulement des diapositives.</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Le problème SFD traité, dit en une phrase.</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Ce qui a été réellement construit pendant les 72 heures.</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Une répartition des rôles visible dans l’équipe.</a:t>
            </a:r>
            <a:endParaRPr lang="en-US" sz="1250" dirty="0"/>
          </a:p>
        </p:txBody>
      </p:sp>
      <p:sp>
        <p:nvSpPr>
          <p:cNvPr id="13" name="Shape 11"/>
          <p:cNvSpPr/>
          <p:nvPr/>
        </p:nvSpPr>
        <p:spPr>
          <a:xfrm>
            <a:off x="6236208" y="3255264"/>
            <a:ext cx="5303520" cy="2286000"/>
          </a:xfrm>
          <a:prstGeom prst="rect">
            <a:avLst/>
          </a:prstGeom>
          <a:solidFill>
            <a:srgbClr val="FFFFFF"/>
          </a:solidFill>
          <a:ln w="9525">
            <a:solidFill>
              <a:srgbClr val="DCE2EE"/>
            </a:solidFill>
            <a:prstDash val="solid"/>
          </a:ln>
        </p:spPr>
      </p:sp>
      <p:sp>
        <p:nvSpPr>
          <p:cNvPr id="14" name="Shape 12"/>
          <p:cNvSpPr/>
          <p:nvPr/>
        </p:nvSpPr>
        <p:spPr>
          <a:xfrm>
            <a:off x="6236208" y="3255264"/>
            <a:ext cx="82296" cy="2286000"/>
          </a:xfrm>
          <a:prstGeom prst="rect">
            <a:avLst/>
          </a:prstGeom>
          <a:solidFill>
            <a:srgbClr val="B51F24"/>
          </a:solidFill>
          <a:ln/>
        </p:spPr>
      </p:sp>
      <p:sp>
        <p:nvSpPr>
          <p:cNvPr id="15" name="Text 13"/>
          <p:cNvSpPr/>
          <p:nvPr/>
        </p:nvSpPr>
        <p:spPr>
          <a:xfrm>
            <a:off x="6510528" y="3401568"/>
            <a:ext cx="4800600" cy="384048"/>
          </a:xfrm>
          <a:prstGeom prst="rect">
            <a:avLst/>
          </a:prstGeom>
          <a:noFill/>
          <a:ln/>
        </p:spPr>
        <p:txBody>
          <a:bodyPr wrap="square" lIns="0" tIns="0" rIns="0" bIns="0" rtlCol="0" anchor="ctr"/>
          <a:lstStyle/>
          <a:p>
            <a:pPr marL="0" indent="0">
              <a:buNone/>
            </a:pPr>
            <a:r>
              <a:rPr lang="en-US" sz="1350" b="1" dirty="0">
                <a:solidFill>
                  <a:srgbClr val="B51F24"/>
                </a:solidFill>
                <a:latin typeface="Century Gothic" pitchFamily="34" charset="0"/>
                <a:ea typeface="Century Gothic" pitchFamily="34" charset="-122"/>
                <a:cs typeface="Century Gothic" pitchFamily="34" charset="-120"/>
              </a:rPr>
              <a:t>CE QUI COÛTE DES POINTS</a:t>
            </a:r>
            <a:endParaRPr lang="en-US" sz="1350" dirty="0"/>
          </a:p>
        </p:txBody>
      </p:sp>
      <p:sp>
        <p:nvSpPr>
          <p:cNvPr id="16" name="Text 14"/>
          <p:cNvSpPr/>
          <p:nvPr/>
        </p:nvSpPr>
        <p:spPr>
          <a:xfrm>
            <a:off x="6510528" y="3730752"/>
            <a:ext cx="4791456" cy="2011680"/>
          </a:xfrm>
          <a:prstGeom prst="rect">
            <a:avLst/>
          </a:prstGeom>
          <a:noFill/>
          <a:ln/>
        </p:spPr>
        <p:txBody>
          <a:bodyPr wrap="square" lIns="0" tIns="0" rIns="0" bIns="0" rtlCol="0" anchor="t"/>
          <a:lstStyle/>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Dépasser les 8 minutes : le pitch est interrompu.</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Une démo qui n’a jamais été répétée devant un écran de projection.</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 seul membre qui parle pour toute l’équipe.</a:t>
            </a:r>
            <a:endParaRPr lang="en-US" sz="1250" dirty="0"/>
          </a:p>
          <a:p>
            <a:pPr marL="165100" indent="-165100">
              <a:lnSpc>
                <a:spcPts val="1900"/>
              </a:lnSpc>
              <a:spcAft>
                <a:spcPts val="700"/>
              </a:spcAft>
              <a:buSzPct val="100000"/>
              <a:buChar char="•"/>
            </a:pPr>
            <a:r>
              <a:rPr lang="en-US" sz="1250" dirty="0">
                <a:solidFill>
                  <a:srgbClr val="231F20"/>
                </a:solidFill>
                <a:latin typeface="Calibri" pitchFamily="34" charset="0"/>
                <a:ea typeface="Calibri" pitchFamily="34" charset="-122"/>
                <a:cs typeface="Calibri" pitchFamily="34" charset="-120"/>
              </a:rPr>
              <a:t>Une solution qui ne répond pas à la thématique choisie.</a:t>
            </a:r>
            <a:endParaRPr lang="en-US" sz="1250" dirty="0"/>
          </a:p>
        </p:txBody>
      </p:sp>
      <p:sp>
        <p:nvSpPr>
          <p:cNvPr id="17" name="Shape 15"/>
          <p:cNvSpPr/>
          <p:nvPr/>
        </p:nvSpPr>
        <p:spPr>
          <a:xfrm>
            <a:off x="658368" y="5705856"/>
            <a:ext cx="10881360" cy="457200"/>
          </a:xfrm>
          <a:prstGeom prst="rect">
            <a:avLst/>
          </a:prstGeom>
          <a:solidFill>
            <a:srgbClr val="EDF1F8"/>
          </a:solidFill>
          <a:ln/>
        </p:spPr>
      </p:sp>
      <p:sp>
        <p:nvSpPr>
          <p:cNvPr id="18" name="Text 16"/>
          <p:cNvSpPr/>
          <p:nvPr/>
        </p:nvSpPr>
        <p:spPr>
          <a:xfrm>
            <a:off x="969264" y="5705856"/>
            <a:ext cx="10277856" cy="457200"/>
          </a:xfrm>
          <a:prstGeom prst="rect">
            <a:avLst/>
          </a:prstGeom>
          <a:noFill/>
          <a:ln/>
        </p:spPr>
        <p:txBody>
          <a:bodyPr wrap="square" lIns="0" tIns="0" rIns="0" bIns="0" rtlCol="0" anchor="ctr"/>
          <a:lstStyle/>
          <a:p>
            <a:pPr marL="0" indent="0">
              <a:buNone/>
            </a:pPr>
            <a:r>
              <a:rPr lang="en-US" sz="1200" b="1" dirty="0">
                <a:solidFill>
                  <a:srgbClr val="22438F"/>
                </a:solidFill>
                <a:latin typeface="Calibri" pitchFamily="34" charset="0"/>
                <a:ea typeface="Calibri" pitchFamily="34" charset="-122"/>
                <a:cs typeface="Calibri" pitchFamily="34" charset="-120"/>
              </a:rPr>
              <a:t>Le pitch se prépare : la session storytelling du jour 3, à 13h00, sert exactement à cela, et l’ordre de passage est tiré au sort en début de cérémonie.</a:t>
            </a:r>
            <a:endParaRPr lang="en-US" sz="1200" dirty="0"/>
          </a:p>
        </p:txBody>
      </p:sp>
      <p:sp>
        <p:nvSpPr>
          <p:cNvPr id="19" name="Text 17"/>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20" name="Text 18"/>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11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22438F"/>
                </a:solidFill>
                <a:latin typeface="Century Gothic" pitchFamily="34" charset="0"/>
                <a:ea typeface="Century Gothic" pitchFamily="34" charset="-122"/>
                <a:cs typeface="Century Gothic" pitchFamily="34" charset="-120"/>
              </a:rPr>
              <a:t>COMMENT VOUS SEREZ NOTÉS</a:t>
            </a:r>
            <a:endParaRPr lang="en-US" sz="1250" dirty="0"/>
          </a:p>
        </p:txBody>
      </p:sp>
      <p:sp>
        <p:nvSpPr>
          <p:cNvPr id="3" name="Shape 1"/>
          <p:cNvSpPr/>
          <p:nvPr/>
        </p:nvSpPr>
        <p:spPr>
          <a:xfrm>
            <a:off x="-548640" y="1024128"/>
            <a:ext cx="8961120" cy="804672"/>
          </a:xfrm>
          <a:prstGeom prst="roundRect">
            <a:avLst>
              <a:gd name="adj" fmla="val 50000"/>
            </a:avLst>
          </a:prstGeom>
          <a:solidFill>
            <a:srgbClr val="22438F"/>
          </a:solidFill>
          <a:ln/>
        </p:spPr>
      </p:sp>
      <p:sp>
        <p:nvSpPr>
          <p:cNvPr id="4" name="Text 2"/>
          <p:cNvSpPr/>
          <p:nvPr/>
        </p:nvSpPr>
        <p:spPr>
          <a:xfrm>
            <a:off x="658368" y="1024128"/>
            <a:ext cx="7498080" cy="804672"/>
          </a:xfrm>
          <a:prstGeom prst="rect">
            <a:avLst/>
          </a:prstGeom>
          <a:noFill/>
          <a:ln/>
        </p:spPr>
        <p:txBody>
          <a:bodyPr wrap="square" lIns="0" tIns="0" rIns="0" bIns="0" rtlCol="0" anchor="ctr"/>
          <a:lstStyle/>
          <a:p>
            <a:pPr marL="0" indent="0">
              <a:buNone/>
            </a:pPr>
            <a:r>
              <a:rPr lang="en-US" sz="2400" b="1" dirty="0">
                <a:solidFill>
                  <a:srgbClr val="FFFFFF"/>
                </a:solidFill>
                <a:latin typeface="Century Gothic" pitchFamily="34" charset="0"/>
                <a:ea typeface="Century Gothic" pitchFamily="34" charset="-122"/>
                <a:cs typeface="Century Gothic" pitchFamily="34" charset="-120"/>
              </a:rPr>
              <a:t>La grille du jury, critère par critère</a:t>
            </a:r>
            <a:endParaRPr lang="en-US" sz="2400" dirty="0"/>
          </a:p>
        </p:txBody>
      </p:sp>
      <p:sp>
        <p:nvSpPr>
          <p:cNvPr id="5" name="Text 3"/>
          <p:cNvSpPr/>
          <p:nvPr/>
        </p:nvSpPr>
        <p:spPr>
          <a:xfrm>
            <a:off x="658368" y="2103120"/>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Pertinence et adéquation à la thématique</a:t>
            </a:r>
            <a:endParaRPr lang="en-US" sz="1250" dirty="0"/>
          </a:p>
        </p:txBody>
      </p:sp>
      <p:sp>
        <p:nvSpPr>
          <p:cNvPr id="6" name="Shape 4"/>
          <p:cNvSpPr/>
          <p:nvPr/>
        </p:nvSpPr>
        <p:spPr>
          <a:xfrm>
            <a:off x="4572000" y="2221992"/>
            <a:ext cx="3657600" cy="329184"/>
          </a:xfrm>
          <a:prstGeom prst="rect">
            <a:avLst/>
          </a:prstGeom>
          <a:solidFill>
            <a:srgbClr val="E4E9F3"/>
          </a:solidFill>
          <a:ln/>
        </p:spPr>
      </p:sp>
      <p:sp>
        <p:nvSpPr>
          <p:cNvPr id="7" name="Shape 5"/>
          <p:cNvSpPr/>
          <p:nvPr/>
        </p:nvSpPr>
        <p:spPr>
          <a:xfrm>
            <a:off x="4572000" y="2221992"/>
            <a:ext cx="3657600" cy="329184"/>
          </a:xfrm>
          <a:prstGeom prst="rect">
            <a:avLst/>
          </a:prstGeom>
          <a:solidFill>
            <a:srgbClr val="32A849"/>
          </a:solidFill>
          <a:ln/>
        </p:spPr>
      </p:sp>
      <p:sp>
        <p:nvSpPr>
          <p:cNvPr id="8" name="Text 6"/>
          <p:cNvSpPr/>
          <p:nvPr/>
        </p:nvSpPr>
        <p:spPr>
          <a:xfrm>
            <a:off x="8357616" y="2221992"/>
            <a:ext cx="658368" cy="329184"/>
          </a:xfrm>
          <a:prstGeom prst="rect">
            <a:avLst/>
          </a:prstGeom>
          <a:noFill/>
          <a:ln/>
        </p:spPr>
        <p:txBody>
          <a:bodyPr wrap="square" lIns="0" tIns="0" rIns="0" bIns="0" rtlCol="0" anchor="ctr"/>
          <a:lstStyle/>
          <a:p>
            <a:pPr marL="0" indent="0">
              <a:buNone/>
            </a:pPr>
            <a:r>
              <a:rPr lang="en-US" sz="1250" b="1" dirty="0">
                <a:solidFill>
                  <a:srgbClr val="32A849"/>
                </a:solidFill>
                <a:latin typeface="Century Gothic" pitchFamily="34" charset="0"/>
                <a:ea typeface="Century Gothic" pitchFamily="34" charset="-122"/>
                <a:cs typeface="Century Gothic" pitchFamily="34" charset="-120"/>
              </a:rPr>
              <a:t>30 %</a:t>
            </a:r>
            <a:endParaRPr lang="en-US" sz="1250" dirty="0"/>
          </a:p>
        </p:txBody>
      </p:sp>
      <p:sp>
        <p:nvSpPr>
          <p:cNvPr id="9" name="Text 7"/>
          <p:cNvSpPr/>
          <p:nvPr/>
        </p:nvSpPr>
        <p:spPr>
          <a:xfrm>
            <a:off x="9070848" y="2103120"/>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La solution adresse directement PPE ou scoring, avec une compréhension fine du besoin SFD.</a:t>
            </a:r>
            <a:endParaRPr lang="en-US" sz="1050" dirty="0"/>
          </a:p>
        </p:txBody>
      </p:sp>
      <p:sp>
        <p:nvSpPr>
          <p:cNvPr id="10" name="Text 8"/>
          <p:cNvSpPr/>
          <p:nvPr/>
        </p:nvSpPr>
        <p:spPr>
          <a:xfrm>
            <a:off x="658368" y="2761488"/>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Originalité et innovation</a:t>
            </a:r>
            <a:endParaRPr lang="en-US" sz="1250" dirty="0"/>
          </a:p>
        </p:txBody>
      </p:sp>
      <p:sp>
        <p:nvSpPr>
          <p:cNvPr id="11" name="Shape 9"/>
          <p:cNvSpPr/>
          <p:nvPr/>
        </p:nvSpPr>
        <p:spPr>
          <a:xfrm>
            <a:off x="4572000" y="2880360"/>
            <a:ext cx="3657600" cy="329184"/>
          </a:xfrm>
          <a:prstGeom prst="rect">
            <a:avLst/>
          </a:prstGeom>
          <a:solidFill>
            <a:srgbClr val="E4E9F3"/>
          </a:solidFill>
          <a:ln/>
        </p:spPr>
      </p:sp>
      <p:sp>
        <p:nvSpPr>
          <p:cNvPr id="12" name="Shape 10"/>
          <p:cNvSpPr/>
          <p:nvPr/>
        </p:nvSpPr>
        <p:spPr>
          <a:xfrm>
            <a:off x="4572000" y="2880360"/>
            <a:ext cx="2438400" cy="329184"/>
          </a:xfrm>
          <a:prstGeom prst="rect">
            <a:avLst/>
          </a:prstGeom>
          <a:solidFill>
            <a:srgbClr val="22438F"/>
          </a:solidFill>
          <a:ln/>
        </p:spPr>
      </p:sp>
      <p:sp>
        <p:nvSpPr>
          <p:cNvPr id="13" name="Text 11"/>
          <p:cNvSpPr/>
          <p:nvPr/>
        </p:nvSpPr>
        <p:spPr>
          <a:xfrm>
            <a:off x="8357616" y="2880360"/>
            <a:ext cx="658368" cy="329184"/>
          </a:xfrm>
          <a:prstGeom prst="rect">
            <a:avLst/>
          </a:prstGeom>
          <a:noFill/>
          <a:ln/>
        </p:spPr>
        <p:txBody>
          <a:bodyPr wrap="square" lIns="0" tIns="0" rIns="0" bIns="0" rtlCol="0" anchor="ctr"/>
          <a:lstStyle/>
          <a:p>
            <a:pPr marL="0" indent="0">
              <a:buNone/>
            </a:pPr>
            <a:r>
              <a:rPr lang="en-US" sz="1250" b="1" dirty="0">
                <a:solidFill>
                  <a:srgbClr val="22438F"/>
                </a:solidFill>
                <a:latin typeface="Century Gothic" pitchFamily="34" charset="0"/>
                <a:ea typeface="Century Gothic" pitchFamily="34" charset="-122"/>
                <a:cs typeface="Century Gothic" pitchFamily="34" charset="-120"/>
              </a:rPr>
              <a:t>20 %</a:t>
            </a:r>
            <a:endParaRPr lang="en-US" sz="1250" dirty="0"/>
          </a:p>
        </p:txBody>
      </p:sp>
      <p:sp>
        <p:nvSpPr>
          <p:cNvPr id="14" name="Text 12"/>
          <p:cNvSpPr/>
          <p:nvPr/>
        </p:nvSpPr>
        <p:spPr>
          <a:xfrm>
            <a:off x="9070848" y="2761488"/>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Approche nouvelle ou différenciante, usage créatif des technologies disponibles.</a:t>
            </a:r>
            <a:endParaRPr lang="en-US" sz="1050" dirty="0"/>
          </a:p>
        </p:txBody>
      </p:sp>
      <p:sp>
        <p:nvSpPr>
          <p:cNvPr id="15" name="Text 13"/>
          <p:cNvSpPr/>
          <p:nvPr/>
        </p:nvSpPr>
        <p:spPr>
          <a:xfrm>
            <a:off x="658368" y="3419856"/>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Faisabilité technique</a:t>
            </a:r>
            <a:endParaRPr lang="en-US" sz="1250" dirty="0"/>
          </a:p>
        </p:txBody>
      </p:sp>
      <p:sp>
        <p:nvSpPr>
          <p:cNvPr id="16" name="Shape 14"/>
          <p:cNvSpPr/>
          <p:nvPr/>
        </p:nvSpPr>
        <p:spPr>
          <a:xfrm>
            <a:off x="4572000" y="3538728"/>
            <a:ext cx="3657600" cy="329184"/>
          </a:xfrm>
          <a:prstGeom prst="rect">
            <a:avLst/>
          </a:prstGeom>
          <a:solidFill>
            <a:srgbClr val="E4E9F3"/>
          </a:solidFill>
          <a:ln/>
        </p:spPr>
      </p:sp>
      <p:sp>
        <p:nvSpPr>
          <p:cNvPr id="17" name="Shape 15"/>
          <p:cNvSpPr/>
          <p:nvPr/>
        </p:nvSpPr>
        <p:spPr>
          <a:xfrm>
            <a:off x="4572000" y="3538728"/>
            <a:ext cx="2438400" cy="329184"/>
          </a:xfrm>
          <a:prstGeom prst="rect">
            <a:avLst/>
          </a:prstGeom>
          <a:solidFill>
            <a:srgbClr val="22438F"/>
          </a:solidFill>
          <a:ln/>
        </p:spPr>
      </p:sp>
      <p:sp>
        <p:nvSpPr>
          <p:cNvPr id="18" name="Text 16"/>
          <p:cNvSpPr/>
          <p:nvPr/>
        </p:nvSpPr>
        <p:spPr>
          <a:xfrm>
            <a:off x="8357616" y="3538728"/>
            <a:ext cx="658368" cy="329184"/>
          </a:xfrm>
          <a:prstGeom prst="rect">
            <a:avLst/>
          </a:prstGeom>
          <a:noFill/>
          <a:ln/>
        </p:spPr>
        <p:txBody>
          <a:bodyPr wrap="square" lIns="0" tIns="0" rIns="0" bIns="0" rtlCol="0" anchor="ctr"/>
          <a:lstStyle/>
          <a:p>
            <a:pPr marL="0" indent="0">
              <a:buNone/>
            </a:pPr>
            <a:r>
              <a:rPr lang="en-US" sz="1250" b="1" dirty="0">
                <a:solidFill>
                  <a:srgbClr val="22438F"/>
                </a:solidFill>
                <a:latin typeface="Century Gothic" pitchFamily="34" charset="0"/>
                <a:ea typeface="Century Gothic" pitchFamily="34" charset="-122"/>
                <a:cs typeface="Century Gothic" pitchFamily="34" charset="-120"/>
              </a:rPr>
              <a:t>20 %</a:t>
            </a:r>
            <a:endParaRPr lang="en-US" sz="1250" dirty="0"/>
          </a:p>
        </p:txBody>
      </p:sp>
      <p:sp>
        <p:nvSpPr>
          <p:cNvPr id="19" name="Text 17"/>
          <p:cNvSpPr/>
          <p:nvPr/>
        </p:nvSpPr>
        <p:spPr>
          <a:xfrm>
            <a:off x="9070848" y="3419856"/>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Prototype fonctionnel et testable, stack adapté aux contraintes des SFD.</a:t>
            </a:r>
            <a:endParaRPr lang="en-US" sz="1050" dirty="0"/>
          </a:p>
        </p:txBody>
      </p:sp>
      <p:sp>
        <p:nvSpPr>
          <p:cNvPr id="20" name="Text 18"/>
          <p:cNvSpPr/>
          <p:nvPr/>
        </p:nvSpPr>
        <p:spPr>
          <a:xfrm>
            <a:off x="658368" y="4078224"/>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Impact pour les SFD membres CIF</a:t>
            </a:r>
            <a:endParaRPr lang="en-US" sz="1250" dirty="0"/>
          </a:p>
        </p:txBody>
      </p:sp>
      <p:sp>
        <p:nvSpPr>
          <p:cNvPr id="21" name="Shape 19"/>
          <p:cNvSpPr/>
          <p:nvPr/>
        </p:nvSpPr>
        <p:spPr>
          <a:xfrm>
            <a:off x="4572000" y="4197096"/>
            <a:ext cx="3657600" cy="329184"/>
          </a:xfrm>
          <a:prstGeom prst="rect">
            <a:avLst/>
          </a:prstGeom>
          <a:solidFill>
            <a:srgbClr val="E4E9F3"/>
          </a:solidFill>
          <a:ln/>
        </p:spPr>
      </p:sp>
      <p:sp>
        <p:nvSpPr>
          <p:cNvPr id="22" name="Shape 20"/>
          <p:cNvSpPr/>
          <p:nvPr/>
        </p:nvSpPr>
        <p:spPr>
          <a:xfrm>
            <a:off x="4572000" y="4197096"/>
            <a:ext cx="1828800" cy="329184"/>
          </a:xfrm>
          <a:prstGeom prst="rect">
            <a:avLst/>
          </a:prstGeom>
          <a:solidFill>
            <a:srgbClr val="E8B305"/>
          </a:solidFill>
          <a:ln/>
        </p:spPr>
      </p:sp>
      <p:sp>
        <p:nvSpPr>
          <p:cNvPr id="23" name="Text 21"/>
          <p:cNvSpPr/>
          <p:nvPr/>
        </p:nvSpPr>
        <p:spPr>
          <a:xfrm>
            <a:off x="8357616" y="4197096"/>
            <a:ext cx="658368" cy="329184"/>
          </a:xfrm>
          <a:prstGeom prst="rect">
            <a:avLst/>
          </a:prstGeom>
          <a:noFill/>
          <a:ln/>
        </p:spPr>
        <p:txBody>
          <a:bodyPr wrap="square" lIns="0" tIns="0" rIns="0" bIns="0" rtlCol="0" anchor="ctr"/>
          <a:lstStyle/>
          <a:p>
            <a:pPr marL="0" indent="0">
              <a:buNone/>
            </a:pPr>
            <a:r>
              <a:rPr lang="en-US" sz="1250" b="1" dirty="0">
                <a:solidFill>
                  <a:srgbClr val="E8B305"/>
                </a:solidFill>
                <a:latin typeface="Century Gothic" pitchFamily="34" charset="0"/>
                <a:ea typeface="Century Gothic" pitchFamily="34" charset="-122"/>
                <a:cs typeface="Century Gothic" pitchFamily="34" charset="-120"/>
              </a:rPr>
              <a:t>15 %</a:t>
            </a:r>
            <a:endParaRPr lang="en-US" sz="1250" dirty="0"/>
          </a:p>
        </p:txBody>
      </p:sp>
      <p:sp>
        <p:nvSpPr>
          <p:cNvPr id="24" name="Text 22"/>
          <p:cNvSpPr/>
          <p:nvPr/>
        </p:nvSpPr>
        <p:spPr>
          <a:xfrm>
            <a:off x="9070848" y="4078224"/>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Bénéfices concrets et mesurables, scalabilité, potentiel de déploiement.</a:t>
            </a:r>
            <a:endParaRPr lang="en-US" sz="1050" dirty="0"/>
          </a:p>
        </p:txBody>
      </p:sp>
      <p:sp>
        <p:nvSpPr>
          <p:cNvPr id="25" name="Text 23"/>
          <p:cNvSpPr/>
          <p:nvPr/>
        </p:nvSpPr>
        <p:spPr>
          <a:xfrm>
            <a:off x="658368" y="4736592"/>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Qualité du pitch et de la présentation</a:t>
            </a:r>
            <a:endParaRPr lang="en-US" sz="1250" dirty="0"/>
          </a:p>
        </p:txBody>
      </p:sp>
      <p:sp>
        <p:nvSpPr>
          <p:cNvPr id="26" name="Shape 24"/>
          <p:cNvSpPr/>
          <p:nvPr/>
        </p:nvSpPr>
        <p:spPr>
          <a:xfrm>
            <a:off x="4572000" y="4855464"/>
            <a:ext cx="3657600" cy="329184"/>
          </a:xfrm>
          <a:prstGeom prst="rect">
            <a:avLst/>
          </a:prstGeom>
          <a:solidFill>
            <a:srgbClr val="E4E9F3"/>
          </a:solidFill>
          <a:ln/>
        </p:spPr>
      </p:sp>
      <p:sp>
        <p:nvSpPr>
          <p:cNvPr id="27" name="Shape 25"/>
          <p:cNvSpPr/>
          <p:nvPr/>
        </p:nvSpPr>
        <p:spPr>
          <a:xfrm>
            <a:off x="4572000" y="4855464"/>
            <a:ext cx="1219200" cy="329184"/>
          </a:xfrm>
          <a:prstGeom prst="rect">
            <a:avLst/>
          </a:prstGeom>
          <a:solidFill>
            <a:srgbClr val="B51F24"/>
          </a:solidFill>
          <a:ln/>
        </p:spPr>
      </p:sp>
      <p:sp>
        <p:nvSpPr>
          <p:cNvPr id="28" name="Text 26"/>
          <p:cNvSpPr/>
          <p:nvPr/>
        </p:nvSpPr>
        <p:spPr>
          <a:xfrm>
            <a:off x="8357616" y="4855464"/>
            <a:ext cx="658368" cy="329184"/>
          </a:xfrm>
          <a:prstGeom prst="rect">
            <a:avLst/>
          </a:prstGeom>
          <a:noFill/>
          <a:ln/>
        </p:spPr>
        <p:txBody>
          <a:bodyPr wrap="square" lIns="0" tIns="0" rIns="0" bIns="0" rtlCol="0" anchor="ctr"/>
          <a:lstStyle/>
          <a:p>
            <a:pPr marL="0" indent="0">
              <a:buNone/>
            </a:pPr>
            <a:r>
              <a:rPr lang="en-US" sz="1250" b="1" dirty="0">
                <a:solidFill>
                  <a:srgbClr val="B51F24"/>
                </a:solidFill>
                <a:latin typeface="Century Gothic" pitchFamily="34" charset="0"/>
                <a:ea typeface="Century Gothic" pitchFamily="34" charset="-122"/>
                <a:cs typeface="Century Gothic" pitchFamily="34" charset="-120"/>
              </a:rPr>
              <a:t>10 %</a:t>
            </a:r>
            <a:endParaRPr lang="en-US" sz="1250" dirty="0"/>
          </a:p>
        </p:txBody>
      </p:sp>
      <p:sp>
        <p:nvSpPr>
          <p:cNvPr id="29" name="Text 27"/>
          <p:cNvSpPr/>
          <p:nvPr/>
        </p:nvSpPr>
        <p:spPr>
          <a:xfrm>
            <a:off x="9070848" y="4736592"/>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Clarté du discours, maîtrise du sujet, réponses aux questions.</a:t>
            </a:r>
            <a:endParaRPr lang="en-US" sz="1050" dirty="0"/>
          </a:p>
        </p:txBody>
      </p:sp>
      <p:sp>
        <p:nvSpPr>
          <p:cNvPr id="30" name="Text 28"/>
          <p:cNvSpPr/>
          <p:nvPr/>
        </p:nvSpPr>
        <p:spPr>
          <a:xfrm>
            <a:off x="658368" y="5394960"/>
            <a:ext cx="37490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Composition et complémentarité de l’équipe</a:t>
            </a:r>
            <a:endParaRPr lang="en-US" sz="1250" dirty="0"/>
          </a:p>
        </p:txBody>
      </p:sp>
      <p:sp>
        <p:nvSpPr>
          <p:cNvPr id="31" name="Shape 29"/>
          <p:cNvSpPr/>
          <p:nvPr/>
        </p:nvSpPr>
        <p:spPr>
          <a:xfrm>
            <a:off x="4572000" y="5513832"/>
            <a:ext cx="3657600" cy="329184"/>
          </a:xfrm>
          <a:prstGeom prst="rect">
            <a:avLst/>
          </a:prstGeom>
          <a:solidFill>
            <a:srgbClr val="E4E9F3"/>
          </a:solidFill>
          <a:ln/>
        </p:spPr>
      </p:sp>
      <p:sp>
        <p:nvSpPr>
          <p:cNvPr id="32" name="Shape 30"/>
          <p:cNvSpPr/>
          <p:nvPr/>
        </p:nvSpPr>
        <p:spPr>
          <a:xfrm>
            <a:off x="4572000" y="5513832"/>
            <a:ext cx="609600" cy="329184"/>
          </a:xfrm>
          <a:prstGeom prst="rect">
            <a:avLst/>
          </a:prstGeom>
          <a:solidFill>
            <a:srgbClr val="B51F24"/>
          </a:solidFill>
          <a:ln/>
        </p:spPr>
      </p:sp>
      <p:sp>
        <p:nvSpPr>
          <p:cNvPr id="33" name="Text 31"/>
          <p:cNvSpPr/>
          <p:nvPr/>
        </p:nvSpPr>
        <p:spPr>
          <a:xfrm>
            <a:off x="8357616" y="5513832"/>
            <a:ext cx="658368" cy="329184"/>
          </a:xfrm>
          <a:prstGeom prst="rect">
            <a:avLst/>
          </a:prstGeom>
          <a:noFill/>
          <a:ln/>
        </p:spPr>
        <p:txBody>
          <a:bodyPr wrap="square" lIns="0" tIns="0" rIns="0" bIns="0" rtlCol="0" anchor="ctr"/>
          <a:lstStyle/>
          <a:p>
            <a:pPr marL="0" indent="0">
              <a:buNone/>
            </a:pPr>
            <a:r>
              <a:rPr lang="en-US" sz="1250" b="1" dirty="0">
                <a:solidFill>
                  <a:srgbClr val="B51F24"/>
                </a:solidFill>
                <a:latin typeface="Century Gothic" pitchFamily="34" charset="0"/>
                <a:ea typeface="Century Gothic" pitchFamily="34" charset="-122"/>
                <a:cs typeface="Century Gothic" pitchFamily="34" charset="-120"/>
              </a:rPr>
              <a:t>5 %</a:t>
            </a:r>
            <a:endParaRPr lang="en-US" sz="1250" dirty="0"/>
          </a:p>
        </p:txBody>
      </p:sp>
      <p:sp>
        <p:nvSpPr>
          <p:cNvPr id="34" name="Text 32"/>
          <p:cNvSpPr/>
          <p:nvPr/>
        </p:nvSpPr>
        <p:spPr>
          <a:xfrm>
            <a:off x="9070848" y="5394960"/>
            <a:ext cx="2468880" cy="566928"/>
          </a:xfrm>
          <a:prstGeom prst="rect">
            <a:avLst/>
          </a:prstGeom>
          <a:noFill/>
          <a:ln/>
        </p:spPr>
        <p:txBody>
          <a:bodyPr wrap="square" lIns="0" tIns="0" rIns="0" bIns="0" rtlCol="0" anchor="ctr"/>
          <a:lstStyle/>
          <a:p>
            <a:pPr marL="0" indent="0">
              <a:lnSpc>
                <a:spcPts val="1300"/>
              </a:lnSpc>
              <a:buNone/>
            </a:pPr>
            <a:r>
              <a:rPr lang="en-US" sz="1050" dirty="0">
                <a:solidFill>
                  <a:srgbClr val="6B7280"/>
                </a:solidFill>
                <a:latin typeface="Calibri" pitchFamily="34" charset="0"/>
                <a:ea typeface="Calibri" pitchFamily="34" charset="-122"/>
                <a:cs typeface="Calibri" pitchFamily="34" charset="-120"/>
              </a:rPr>
              <a:t>Équilibre technique et métier, rôles clairs, dynamique visible.</a:t>
            </a:r>
            <a:endParaRPr lang="en-US" sz="1050" dirty="0"/>
          </a:p>
        </p:txBody>
      </p:sp>
      <p:sp>
        <p:nvSpPr>
          <p:cNvPr id="35" name="Shape 33"/>
          <p:cNvSpPr/>
          <p:nvPr/>
        </p:nvSpPr>
        <p:spPr>
          <a:xfrm>
            <a:off x="658368" y="6108192"/>
            <a:ext cx="10881360" cy="0"/>
          </a:xfrm>
          <a:prstGeom prst="rect">
            <a:avLst/>
          </a:prstGeom>
          <a:noFill/>
          <a:ln/>
        </p:spPr>
      </p:sp>
      <p:sp>
        <p:nvSpPr>
          <p:cNvPr id="36" name="Text 34"/>
          <p:cNvSpPr/>
          <p:nvPr/>
        </p:nvSpPr>
        <p:spPr>
          <a:xfrm>
            <a:off x="658368" y="5943600"/>
            <a:ext cx="10881360" cy="365760"/>
          </a:xfrm>
          <a:prstGeom prst="rect">
            <a:avLst/>
          </a:prstGeom>
          <a:noFill/>
          <a:ln/>
        </p:spPr>
        <p:txBody>
          <a:bodyPr wrap="square" lIns="0" tIns="0" rIns="0" bIns="0" rtlCol="0" anchor="ctr"/>
          <a:lstStyle/>
          <a:p>
            <a:pPr marL="0" indent="0">
              <a:buNone/>
            </a:pPr>
            <a:r>
              <a:rPr lang="en-US" sz="1150" b="1" dirty="0">
                <a:solidFill>
                  <a:srgbClr val="22438F"/>
                </a:solidFill>
                <a:latin typeface="Calibri" pitchFamily="34" charset="0"/>
                <a:ea typeface="Calibri" pitchFamily="34" charset="-122"/>
                <a:cs typeface="Calibri" pitchFamily="34" charset="-120"/>
              </a:rPr>
              <a:t>Barème par critère :  0 absent  ·  1 à 3 insuffisant  ·  4 à 6 satisfaisant  ·  7 à 8 bien  ·  9 à 10 excellent.  Note finale : moyenne des scores pondérés de tous les jurés.</a:t>
            </a:r>
            <a:endParaRPr lang="en-US" sz="1150" dirty="0"/>
          </a:p>
        </p:txBody>
      </p:sp>
      <p:sp>
        <p:nvSpPr>
          <p:cNvPr id="37" name="Text 35"/>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38" name="Text 36"/>
          <p:cNvSpPr/>
          <p:nvPr/>
        </p:nvSpPr>
        <p:spPr>
          <a:xfrm>
            <a:off x="5486400" y="6345936"/>
            <a:ext cx="5486400" cy="292608"/>
          </a:xfrm>
          <a:prstGeom prst="rect">
            <a:avLst/>
          </a:prstGeom>
          <a:noFill/>
          <a:ln/>
        </p:spPr>
        <p:txBody>
          <a:bodyPr wrap="square" lIns="0" tIns="0" rIns="0" bIns="0" rtlCol="0" anchor="ctr"/>
          <a:lstStyle/>
          <a:p>
            <a:pPr marL="0" indent="0" algn="r">
              <a:buNone/>
            </a:pPr>
            <a:r>
              <a:rPr lang="en-US" sz="900" i="1" dirty="0">
                <a:solidFill>
                  <a:srgbClr val="6B7280"/>
                </a:solidFill>
                <a:latin typeface="Calibri" pitchFamily="34" charset="0"/>
                <a:ea typeface="Calibri" pitchFamily="34" charset="-122"/>
                <a:cs typeface="Calibri" pitchFamily="34" charset="-120"/>
              </a:rPr>
              <a:t>Source : Guide méthodologique, grille principale du pitch final.</a:t>
            </a:r>
            <a:endParaRPr lang="en-US" sz="900" dirty="0"/>
          </a:p>
        </p:txBody>
      </p:sp>
      <p:sp>
        <p:nvSpPr>
          <p:cNvPr id="39" name="Text 37"/>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12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16295B"/>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E8B305"/>
                </a:solidFill>
                <a:latin typeface="Century Gothic" pitchFamily="34" charset="0"/>
                <a:ea typeface="Century Gothic" pitchFamily="34" charset="-122"/>
                <a:cs typeface="Century Gothic" pitchFamily="34" charset="-120"/>
              </a:rPr>
              <a:t>LES DOTATIONS</a:t>
            </a:r>
            <a:endParaRPr lang="en-US" sz="1250" dirty="0"/>
          </a:p>
        </p:txBody>
      </p:sp>
      <p:sp>
        <p:nvSpPr>
          <p:cNvPr id="3" name="Text 1"/>
          <p:cNvSpPr/>
          <p:nvPr/>
        </p:nvSpPr>
        <p:spPr>
          <a:xfrm>
            <a:off x="658368" y="932688"/>
            <a:ext cx="10881360" cy="731520"/>
          </a:xfrm>
          <a:prstGeom prst="rect">
            <a:avLst/>
          </a:prstGeom>
          <a:noFill/>
          <a:ln/>
        </p:spPr>
        <p:txBody>
          <a:bodyPr wrap="square" lIns="0" tIns="0" rIns="0" bIns="0" rtlCol="0" anchor="ctr"/>
          <a:lstStyle/>
          <a:p>
            <a:pPr marL="0" indent="0">
              <a:buNone/>
            </a:pPr>
            <a:r>
              <a:rPr lang="en-US" sz="3400" b="1" dirty="0">
                <a:solidFill>
                  <a:srgbClr val="FFFFFF"/>
                </a:solidFill>
                <a:latin typeface="Century Gothic" pitchFamily="34" charset="0"/>
                <a:ea typeface="Century Gothic" pitchFamily="34" charset="-122"/>
                <a:cs typeface="Century Gothic" pitchFamily="34" charset="-120"/>
              </a:rPr>
              <a:t>Ce que vous jouez ces trois jours</a:t>
            </a:r>
            <a:endParaRPr lang="en-US" sz="3400" dirty="0"/>
          </a:p>
        </p:txBody>
      </p:sp>
      <p:sp>
        <p:nvSpPr>
          <p:cNvPr id="4" name="Shape 2"/>
          <p:cNvSpPr/>
          <p:nvPr/>
        </p:nvSpPr>
        <p:spPr>
          <a:xfrm>
            <a:off x="658367" y="2048256"/>
            <a:ext cx="8781467" cy="2011680"/>
          </a:xfrm>
          <a:prstGeom prst="rect">
            <a:avLst/>
          </a:prstGeom>
          <a:solidFill>
            <a:srgbClr val="1B3576"/>
          </a:solidFill>
          <a:ln/>
        </p:spPr>
      </p:sp>
      <p:sp>
        <p:nvSpPr>
          <p:cNvPr id="5" name="Shape 3"/>
          <p:cNvSpPr/>
          <p:nvPr/>
        </p:nvSpPr>
        <p:spPr>
          <a:xfrm>
            <a:off x="658367" y="2048256"/>
            <a:ext cx="8781467" cy="73152"/>
          </a:xfrm>
          <a:prstGeom prst="rect">
            <a:avLst/>
          </a:prstGeom>
          <a:solidFill>
            <a:srgbClr val="E8B305"/>
          </a:solidFill>
          <a:ln/>
        </p:spPr>
      </p:sp>
      <p:sp>
        <p:nvSpPr>
          <p:cNvPr id="6" name="Text 4"/>
          <p:cNvSpPr/>
          <p:nvPr/>
        </p:nvSpPr>
        <p:spPr>
          <a:xfrm>
            <a:off x="932688" y="2231136"/>
            <a:ext cx="2286000" cy="548640"/>
          </a:xfrm>
          <a:prstGeom prst="rect">
            <a:avLst/>
          </a:prstGeom>
          <a:noFill/>
          <a:ln/>
        </p:spPr>
        <p:txBody>
          <a:bodyPr wrap="square" lIns="0" tIns="0" rIns="0" bIns="0" rtlCol="0" anchor="ctr"/>
          <a:lstStyle/>
          <a:p>
            <a:pPr marL="0" indent="0">
              <a:buNone/>
            </a:pPr>
            <a:r>
              <a:rPr lang="en-US" sz="3400" b="1" dirty="0">
                <a:solidFill>
                  <a:srgbClr val="E8B305"/>
                </a:solidFill>
                <a:latin typeface="Century Gothic" pitchFamily="34" charset="0"/>
                <a:ea typeface="Century Gothic" pitchFamily="34" charset="-122"/>
                <a:cs typeface="Century Gothic" pitchFamily="34" charset="-120"/>
              </a:rPr>
              <a:t>1</a:t>
            </a:r>
            <a:r>
              <a:rPr lang="en-US" sz="1500" b="1" dirty="0">
                <a:solidFill>
                  <a:srgbClr val="E8B305"/>
                </a:solidFill>
                <a:latin typeface="Century Gothic" pitchFamily="34" charset="0"/>
                <a:ea typeface="Century Gothic" pitchFamily="34" charset="-122"/>
                <a:cs typeface="Century Gothic" pitchFamily="34" charset="-120"/>
              </a:rPr>
              <a:t>er prix</a:t>
            </a:r>
            <a:endParaRPr lang="en-US" sz="3400" dirty="0"/>
          </a:p>
        </p:txBody>
      </p:sp>
      <p:sp>
        <p:nvSpPr>
          <p:cNvPr id="7" name="Text 5"/>
          <p:cNvSpPr/>
          <p:nvPr/>
        </p:nvSpPr>
        <p:spPr>
          <a:xfrm>
            <a:off x="932688" y="2852928"/>
            <a:ext cx="2286000" cy="566928"/>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1 500 000</a:t>
            </a:r>
            <a:endParaRPr lang="en-US" sz="2600" dirty="0"/>
          </a:p>
        </p:txBody>
      </p:sp>
      <p:sp>
        <p:nvSpPr>
          <p:cNvPr id="8" name="Text 6"/>
          <p:cNvSpPr/>
          <p:nvPr/>
        </p:nvSpPr>
        <p:spPr>
          <a:xfrm>
            <a:off x="932688" y="3438144"/>
            <a:ext cx="2286000" cy="274320"/>
          </a:xfrm>
          <a:prstGeom prst="rect">
            <a:avLst/>
          </a:prstGeom>
          <a:noFill/>
          <a:ln/>
        </p:spPr>
        <p:txBody>
          <a:bodyPr wrap="square" lIns="0" tIns="0" rIns="0" bIns="0" rtlCol="0" anchor="ctr"/>
          <a:lstStyle/>
          <a:p>
            <a:pPr marL="0" indent="0">
              <a:buNone/>
            </a:pPr>
            <a:r>
              <a:rPr lang="en-US" sz="1300" dirty="0">
                <a:solidFill>
                  <a:srgbClr val="9FB2D8"/>
                </a:solidFill>
                <a:latin typeface="Calibri" pitchFamily="34" charset="0"/>
                <a:ea typeface="Calibri" pitchFamily="34" charset="-122"/>
                <a:cs typeface="Calibri" pitchFamily="34" charset="-120"/>
              </a:rPr>
              <a:t>FCFA</a:t>
            </a:r>
            <a:endParaRPr lang="en-US" sz="1300" dirty="0"/>
          </a:p>
        </p:txBody>
      </p:sp>
      <p:sp>
        <p:nvSpPr>
          <p:cNvPr id="19" name="Shape 17"/>
          <p:cNvSpPr/>
          <p:nvPr/>
        </p:nvSpPr>
        <p:spPr>
          <a:xfrm>
            <a:off x="9848088" y="2048256"/>
            <a:ext cx="1691640" cy="2011680"/>
          </a:xfrm>
          <a:prstGeom prst="rect">
            <a:avLst/>
          </a:prstGeom>
          <a:solidFill>
            <a:srgbClr val="1E7A33"/>
          </a:solidFill>
          <a:ln/>
        </p:spPr>
      </p:sp>
      <p:sp>
        <p:nvSpPr>
          <p:cNvPr id="20" name="Text 18"/>
          <p:cNvSpPr/>
          <p:nvPr/>
        </p:nvSpPr>
        <p:spPr>
          <a:xfrm>
            <a:off x="10030968" y="2231136"/>
            <a:ext cx="1325880" cy="1645920"/>
          </a:xfrm>
          <a:prstGeom prst="rect">
            <a:avLst/>
          </a:prstGeom>
          <a:noFill/>
          <a:ln/>
        </p:spPr>
        <p:txBody>
          <a:bodyPr wrap="square" lIns="0" tIns="0" rIns="0" bIns="0" rtlCol="0" anchor="t"/>
          <a:lstStyle/>
          <a:p>
            <a:pPr marL="0" indent="0">
              <a:lnSpc>
                <a:spcPts val="1600"/>
              </a:lnSpc>
              <a:buNone/>
            </a:pPr>
            <a:r>
              <a:rPr lang="en-US" sz="1200" b="1" dirty="0">
                <a:solidFill>
                  <a:srgbClr val="FFFFFF"/>
                </a:solidFill>
                <a:latin typeface="Calibri" pitchFamily="34" charset="0"/>
                <a:ea typeface="Calibri" pitchFamily="34" charset="-122"/>
                <a:cs typeface="Calibri" pitchFamily="34" charset="-120"/>
              </a:rPr>
              <a:t>Une équipe lauréate par pays est qualifiée pour le Hackathon Régional</a:t>
            </a:r>
            <a:endParaRPr lang="en-US" sz="1200" dirty="0"/>
          </a:p>
        </p:txBody>
      </p:sp>
      <p:sp>
        <p:nvSpPr>
          <p:cNvPr id="21" name="Shape 19"/>
          <p:cNvSpPr/>
          <p:nvPr/>
        </p:nvSpPr>
        <p:spPr>
          <a:xfrm>
            <a:off x="658368" y="4334256"/>
            <a:ext cx="10881360" cy="1481328"/>
          </a:xfrm>
          <a:prstGeom prst="rect">
            <a:avLst/>
          </a:prstGeom>
          <a:solidFill>
            <a:srgbClr val="0F1F45"/>
          </a:solidFill>
          <a:ln/>
        </p:spPr>
      </p:sp>
      <p:sp>
        <p:nvSpPr>
          <p:cNvPr id="22" name="Text 20"/>
          <p:cNvSpPr/>
          <p:nvPr/>
        </p:nvSpPr>
        <p:spPr>
          <a:xfrm>
            <a:off x="969264" y="4480560"/>
            <a:ext cx="4572000" cy="310896"/>
          </a:xfrm>
          <a:prstGeom prst="rect">
            <a:avLst/>
          </a:prstGeom>
          <a:noFill/>
          <a:ln/>
        </p:spPr>
        <p:txBody>
          <a:bodyPr wrap="square" lIns="0" tIns="0" rIns="0" bIns="0" rtlCol="0" anchor="ctr"/>
          <a:lstStyle/>
          <a:p>
            <a:pPr marL="0" indent="0">
              <a:buNone/>
            </a:pPr>
            <a:r>
              <a:rPr lang="en-US" sz="1250" b="1" kern="0" spc="180" dirty="0">
                <a:solidFill>
                  <a:srgbClr val="32A849"/>
                </a:solidFill>
                <a:latin typeface="Century Gothic" pitchFamily="34" charset="0"/>
                <a:ea typeface="Century Gothic" pitchFamily="34" charset="-122"/>
                <a:cs typeface="Century Gothic" pitchFamily="34" charset="-120"/>
              </a:rPr>
              <a:t>HACKATHON RÉGIONAL</a:t>
            </a:r>
            <a:endParaRPr lang="en-US" sz="1250" dirty="0"/>
          </a:p>
        </p:txBody>
      </p:sp>
      <p:sp>
        <p:nvSpPr>
          <p:cNvPr id="23" name="Text 21"/>
          <p:cNvSpPr/>
          <p:nvPr/>
        </p:nvSpPr>
        <p:spPr>
          <a:xfrm>
            <a:off x="969264" y="4809744"/>
            <a:ext cx="4023360" cy="566928"/>
          </a:xfrm>
          <a:prstGeom prst="rect">
            <a:avLst/>
          </a:prstGeom>
          <a:noFill/>
          <a:ln/>
        </p:spPr>
        <p:txBody>
          <a:bodyPr wrap="square" lIns="0" tIns="0" rIns="0" bIns="0" rtlCol="0" anchor="ctr"/>
          <a:lstStyle/>
          <a:p>
            <a:pPr marL="0" indent="0">
              <a:buNone/>
            </a:pPr>
            <a:r>
              <a:rPr lang="en-US" sz="3000" b="1" dirty="0">
                <a:solidFill>
                  <a:srgbClr val="E8B305"/>
                </a:solidFill>
                <a:latin typeface="Century Gothic" pitchFamily="34" charset="0"/>
                <a:ea typeface="Century Gothic" pitchFamily="34" charset="-122"/>
                <a:cs typeface="Century Gothic" pitchFamily="34" charset="-120"/>
              </a:rPr>
              <a:t>4 000 000 FCFA</a:t>
            </a:r>
            <a:endParaRPr lang="en-US" sz="3000" dirty="0"/>
          </a:p>
        </p:txBody>
      </p:sp>
      <p:sp>
        <p:nvSpPr>
          <p:cNvPr id="24" name="Text 22"/>
          <p:cNvSpPr/>
          <p:nvPr/>
        </p:nvSpPr>
        <p:spPr>
          <a:xfrm>
            <a:off x="969264" y="5376672"/>
            <a:ext cx="4937760" cy="292608"/>
          </a:xfrm>
          <a:prstGeom prst="rect">
            <a:avLst/>
          </a:prstGeom>
          <a:noFill/>
          <a:ln/>
        </p:spPr>
        <p:txBody>
          <a:bodyPr wrap="square" lIns="0" tIns="0" rIns="0" bIns="0" rtlCol="0" anchor="ctr"/>
          <a:lstStyle/>
          <a:p>
            <a:pPr marL="0" indent="0">
              <a:buNone/>
            </a:pPr>
            <a:r>
              <a:rPr lang="en-US" sz="1250" dirty="0">
                <a:solidFill>
                  <a:srgbClr val="C6D2EC"/>
                </a:solidFill>
                <a:latin typeface="Calibri" pitchFamily="34" charset="0"/>
                <a:ea typeface="Calibri" pitchFamily="34" charset="-122"/>
                <a:cs typeface="Calibri" pitchFamily="34" charset="-120"/>
              </a:rPr>
              <a:t>plus un accompagnement de quatre semaines en mentoring</a:t>
            </a:r>
            <a:endParaRPr lang="en-US" sz="1250" dirty="0"/>
          </a:p>
        </p:txBody>
      </p:sp>
      <p:sp>
        <p:nvSpPr>
          <p:cNvPr id="25" name="Text 23"/>
          <p:cNvSpPr/>
          <p:nvPr/>
        </p:nvSpPr>
        <p:spPr>
          <a:xfrm>
            <a:off x="6309360" y="4809744"/>
            <a:ext cx="4937760" cy="566928"/>
          </a:xfrm>
          <a:prstGeom prst="rect">
            <a:avLst/>
          </a:prstGeom>
          <a:noFill/>
          <a:ln/>
        </p:spPr>
        <p:txBody>
          <a:bodyPr wrap="square" lIns="0" tIns="0" rIns="0" bIns="0" rtlCol="0" anchor="ctr"/>
          <a:lstStyle/>
          <a:p>
            <a:pPr marL="0" indent="0" algn="r">
              <a:buNone/>
            </a:pPr>
            <a:r>
              <a:rPr lang="en-US" sz="1900" b="1" dirty="0">
                <a:solidFill>
                  <a:srgbClr val="FFFFFF"/>
                </a:solidFill>
                <a:latin typeface="Century Gothic" pitchFamily="34" charset="0"/>
                <a:ea typeface="Century Gothic" pitchFamily="34" charset="-122"/>
                <a:cs typeface="Century Gothic" pitchFamily="34" charset="-120"/>
              </a:rPr>
              <a:t>Ouagadougou,  octobre 2026</a:t>
            </a:r>
            <a:endParaRPr lang="en-US" sz="1900" dirty="0"/>
          </a:p>
        </p:txBody>
      </p:sp>
      <p:sp>
        <p:nvSpPr>
          <p:cNvPr id="26" name="Text 24"/>
          <p:cNvSpPr/>
          <p:nvPr/>
        </p:nvSpPr>
        <p:spPr>
          <a:xfrm>
            <a:off x="6309360" y="5376672"/>
            <a:ext cx="4937760" cy="292608"/>
          </a:xfrm>
          <a:prstGeom prst="rect">
            <a:avLst/>
          </a:prstGeom>
          <a:noFill/>
          <a:ln/>
        </p:spPr>
        <p:txBody>
          <a:bodyPr wrap="square" lIns="0" tIns="0" rIns="0" bIns="0" rtlCol="0" anchor="ctr"/>
          <a:lstStyle/>
          <a:p>
            <a:pPr marL="0" indent="0" algn="r">
              <a:buNone/>
            </a:pPr>
            <a:r>
              <a:rPr lang="en-US" sz="1250" dirty="0">
                <a:solidFill>
                  <a:srgbClr val="9FB2D8"/>
                </a:solidFill>
                <a:latin typeface="Calibri" pitchFamily="34" charset="0"/>
                <a:ea typeface="Calibri" pitchFamily="34" charset="-122"/>
                <a:cs typeface="Calibri" pitchFamily="34" charset="-120"/>
              </a:rPr>
              <a:t>Les cinq équipes lauréates nationales s’y retrouvent</a:t>
            </a:r>
            <a:endParaRPr lang="en-US" sz="1250" dirty="0"/>
          </a:p>
        </p:txBody>
      </p:sp>
      <p:sp>
        <p:nvSpPr>
          <p:cNvPr id="27" name="Text 25"/>
          <p:cNvSpPr/>
          <p:nvPr/>
        </p:nvSpPr>
        <p:spPr>
          <a:xfrm>
            <a:off x="658368" y="6053328"/>
            <a:ext cx="10881360" cy="310896"/>
          </a:xfrm>
          <a:prstGeom prst="rect">
            <a:avLst/>
          </a:prstGeom>
          <a:noFill/>
          <a:ln/>
        </p:spPr>
        <p:txBody>
          <a:bodyPr wrap="square" lIns="0" tIns="0" rIns="0" bIns="0" rtlCol="0" anchor="ctr"/>
          <a:lstStyle/>
          <a:p>
            <a:pPr marL="0" indent="0">
              <a:buNone/>
            </a:pPr>
            <a:r>
              <a:rPr lang="en-US" sz="1200" i="1" dirty="0">
                <a:solidFill>
                  <a:srgbClr val="9FB2D8"/>
                </a:solidFill>
                <a:latin typeface="Calibri" pitchFamily="34" charset="0"/>
                <a:ea typeface="Calibri" pitchFamily="34" charset="-122"/>
                <a:cs typeface="Calibri" pitchFamily="34" charset="-120"/>
              </a:rPr>
              <a:t>Participation gratuite. Les dotations sont identiques dans les cinq pays.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BFCFD"/>
        </a:solidFill>
        <a:effectLst/>
      </p:bgPr>
    </p:bg>
    <p:spTree>
      <p:nvGrpSpPr>
        <p:cNvPr id="1" name=""/>
        <p:cNvGrpSpPr/>
        <p:nvPr/>
      </p:nvGrpSpPr>
      <p:grpSpPr>
        <a:xfrm>
          <a:off x="0" y="0"/>
          <a:ext cx="0" cy="0"/>
          <a:chOff x="0" y="0"/>
          <a:chExt cx="0" cy="0"/>
        </a:xfrm>
      </p:grpSpPr>
      <p:sp>
        <p:nvSpPr>
          <p:cNvPr id="2" name="Text 0"/>
          <p:cNvSpPr/>
          <p:nvPr/>
        </p:nvSpPr>
        <p:spPr>
          <a:xfrm>
            <a:off x="658368" y="475488"/>
            <a:ext cx="10881360" cy="365760"/>
          </a:xfrm>
          <a:prstGeom prst="rect">
            <a:avLst/>
          </a:prstGeom>
          <a:noFill/>
          <a:ln/>
        </p:spPr>
        <p:txBody>
          <a:bodyPr wrap="square" lIns="0" tIns="0" rIns="0" bIns="0" rtlCol="0" anchor="ctr"/>
          <a:lstStyle/>
          <a:p>
            <a:pPr marL="0" indent="0">
              <a:buNone/>
            </a:pPr>
            <a:r>
              <a:rPr lang="en-US" sz="1250" b="1" kern="0" spc="220" dirty="0">
                <a:solidFill>
                  <a:srgbClr val="1E7A33"/>
                </a:solidFill>
                <a:latin typeface="Century Gothic" pitchFamily="34" charset="0"/>
                <a:ea typeface="Century Gothic" pitchFamily="34" charset="-122"/>
                <a:cs typeface="Century Gothic" pitchFamily="34" charset="-120"/>
              </a:rPr>
              <a:t>L’ESPRIT DE LA COMPÉTITION</a:t>
            </a:r>
            <a:endParaRPr lang="en-US" sz="1250" dirty="0"/>
          </a:p>
        </p:txBody>
      </p:sp>
      <p:sp>
        <p:nvSpPr>
          <p:cNvPr id="3" name="Shape 1"/>
          <p:cNvSpPr/>
          <p:nvPr/>
        </p:nvSpPr>
        <p:spPr>
          <a:xfrm>
            <a:off x="-548640" y="1024128"/>
            <a:ext cx="7315200" cy="804672"/>
          </a:xfrm>
          <a:prstGeom prst="roundRect">
            <a:avLst>
              <a:gd name="adj" fmla="val 50000"/>
            </a:avLst>
          </a:prstGeom>
          <a:solidFill>
            <a:srgbClr val="1E7A33"/>
          </a:solidFill>
          <a:ln/>
        </p:spPr>
      </p:sp>
      <p:sp>
        <p:nvSpPr>
          <p:cNvPr id="4" name="Text 2"/>
          <p:cNvSpPr/>
          <p:nvPr/>
        </p:nvSpPr>
        <p:spPr>
          <a:xfrm>
            <a:off x="658368" y="1024128"/>
            <a:ext cx="5852160" cy="804672"/>
          </a:xfrm>
          <a:prstGeom prst="rect">
            <a:avLst/>
          </a:prstGeom>
          <a:noFill/>
          <a:ln/>
        </p:spPr>
        <p:txBody>
          <a:bodyPr wrap="square" lIns="0" tIns="0" rIns="0" bIns="0" rtlCol="0" anchor="ctr"/>
          <a:lstStyle/>
          <a:p>
            <a:pPr marL="0" indent="0">
              <a:buNone/>
            </a:pPr>
            <a:r>
              <a:rPr lang="en-US" sz="2600" b="1" dirty="0">
                <a:solidFill>
                  <a:srgbClr val="FFFFFF"/>
                </a:solidFill>
                <a:latin typeface="Century Gothic" pitchFamily="34" charset="0"/>
                <a:ea typeface="Century Gothic" pitchFamily="34" charset="-122"/>
                <a:cs typeface="Century Gothic" pitchFamily="34" charset="-120"/>
              </a:rPr>
              <a:t>Fair-play et bonne conduite</a:t>
            </a:r>
            <a:endParaRPr lang="en-US" sz="2600" dirty="0"/>
          </a:p>
        </p:txBody>
      </p:sp>
      <p:sp>
        <p:nvSpPr>
          <p:cNvPr id="5" name="Shape 3"/>
          <p:cNvSpPr/>
          <p:nvPr/>
        </p:nvSpPr>
        <p:spPr>
          <a:xfrm>
            <a:off x="658368" y="2157984"/>
            <a:ext cx="10881360" cy="822960"/>
          </a:xfrm>
          <a:prstGeom prst="rect">
            <a:avLst/>
          </a:prstGeom>
          <a:solidFill>
            <a:srgbClr val="EDF1F8"/>
          </a:solidFill>
          <a:ln w="9525">
            <a:solidFill>
              <a:srgbClr val="DCE2EE"/>
            </a:solidFill>
            <a:prstDash val="solid"/>
          </a:ln>
        </p:spPr>
      </p:sp>
      <p:sp>
        <p:nvSpPr>
          <p:cNvPr id="6" name="Shape 4"/>
          <p:cNvSpPr/>
          <p:nvPr/>
        </p:nvSpPr>
        <p:spPr>
          <a:xfrm>
            <a:off x="658368" y="2157984"/>
            <a:ext cx="82296" cy="822960"/>
          </a:xfrm>
          <a:prstGeom prst="rect">
            <a:avLst/>
          </a:prstGeom>
          <a:solidFill>
            <a:srgbClr val="32A849"/>
          </a:solidFill>
          <a:ln/>
        </p:spPr>
      </p:sp>
      <p:sp>
        <p:nvSpPr>
          <p:cNvPr id="7" name="Text 5"/>
          <p:cNvSpPr/>
          <p:nvPr/>
        </p:nvSpPr>
        <p:spPr>
          <a:xfrm>
            <a:off x="969264" y="2157984"/>
            <a:ext cx="4114800" cy="822960"/>
          </a:xfrm>
          <a:prstGeom prst="rect">
            <a:avLst/>
          </a:prstGeom>
          <a:noFill/>
          <a:ln/>
        </p:spPr>
        <p:txBody>
          <a:bodyPr wrap="square" lIns="0" tIns="0" rIns="0" bIns="0" rtlCol="0" anchor="ctr"/>
          <a:lstStyle/>
          <a:p>
            <a:pPr marL="0" indent="0">
              <a:buNone/>
            </a:pPr>
            <a:r>
              <a:rPr lang="en-US" sz="1350" b="1" dirty="0">
                <a:solidFill>
                  <a:srgbClr val="32A849"/>
                </a:solidFill>
                <a:latin typeface="Century Gothic" pitchFamily="34" charset="0"/>
                <a:ea typeface="Century Gothic" pitchFamily="34" charset="-122"/>
                <a:cs typeface="Century Gothic" pitchFamily="34" charset="-120"/>
              </a:rPr>
              <a:t>Le travail est celui de l’équipe</a:t>
            </a:r>
            <a:endParaRPr lang="en-US" sz="1350" dirty="0"/>
          </a:p>
        </p:txBody>
      </p:sp>
      <p:sp>
        <p:nvSpPr>
          <p:cNvPr id="8" name="Text 6"/>
          <p:cNvSpPr/>
          <p:nvPr/>
        </p:nvSpPr>
        <p:spPr>
          <a:xfrm>
            <a:off x="5212080" y="2157984"/>
            <a:ext cx="6172200" cy="822960"/>
          </a:xfrm>
          <a:prstGeom prst="rect">
            <a:avLst/>
          </a:prstGeom>
          <a:noFill/>
          <a:ln/>
        </p:spPr>
        <p:txBody>
          <a:bodyPr wrap="square" lIns="0" tIns="0" rIns="0" bIns="0" rtlCol="0" anchor="ctr"/>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Ce qui est présenté doit avoir été produit par les membres inscrits. Les mentors conseillent, ils ne produisent pas.</a:t>
            </a:r>
            <a:endParaRPr lang="en-US" sz="1250" dirty="0"/>
          </a:p>
        </p:txBody>
      </p:sp>
      <p:sp>
        <p:nvSpPr>
          <p:cNvPr id="9" name="Shape 7"/>
          <p:cNvSpPr/>
          <p:nvPr/>
        </p:nvSpPr>
        <p:spPr>
          <a:xfrm>
            <a:off x="658368" y="3090672"/>
            <a:ext cx="10881360" cy="822960"/>
          </a:xfrm>
          <a:prstGeom prst="rect">
            <a:avLst/>
          </a:prstGeom>
          <a:solidFill>
            <a:srgbClr val="FFFFFF"/>
          </a:solidFill>
          <a:ln w="9525">
            <a:solidFill>
              <a:srgbClr val="DCE2EE"/>
            </a:solidFill>
            <a:prstDash val="solid"/>
          </a:ln>
        </p:spPr>
      </p:sp>
      <p:sp>
        <p:nvSpPr>
          <p:cNvPr id="10" name="Shape 8"/>
          <p:cNvSpPr/>
          <p:nvPr/>
        </p:nvSpPr>
        <p:spPr>
          <a:xfrm>
            <a:off x="658368" y="3090672"/>
            <a:ext cx="82296" cy="822960"/>
          </a:xfrm>
          <a:prstGeom prst="rect">
            <a:avLst/>
          </a:prstGeom>
          <a:solidFill>
            <a:srgbClr val="22438F"/>
          </a:solidFill>
          <a:ln/>
        </p:spPr>
      </p:sp>
      <p:sp>
        <p:nvSpPr>
          <p:cNvPr id="11" name="Text 9"/>
          <p:cNvSpPr/>
          <p:nvPr/>
        </p:nvSpPr>
        <p:spPr>
          <a:xfrm>
            <a:off x="969264" y="3090672"/>
            <a:ext cx="4114800" cy="822960"/>
          </a:xfrm>
          <a:prstGeom prst="rect">
            <a:avLst/>
          </a:prstGeom>
          <a:noFill/>
          <a:ln/>
        </p:spPr>
        <p:txBody>
          <a:bodyPr wrap="square" lIns="0" tIns="0" rIns="0" bIns="0" rtlCol="0" anchor="ctr"/>
          <a:lstStyle/>
          <a:p>
            <a:pPr marL="0" indent="0">
              <a:buNone/>
            </a:pPr>
            <a:r>
              <a:rPr lang="en-US" sz="1350" b="1" dirty="0">
                <a:solidFill>
                  <a:srgbClr val="22438F"/>
                </a:solidFill>
                <a:latin typeface="Century Gothic" pitchFamily="34" charset="0"/>
                <a:ea typeface="Century Gothic" pitchFamily="34" charset="-122"/>
                <a:cs typeface="Century Gothic" pitchFamily="34" charset="-120"/>
              </a:rPr>
              <a:t>Les briques tierces se déclarent</a:t>
            </a:r>
            <a:endParaRPr lang="en-US" sz="1350" dirty="0"/>
          </a:p>
        </p:txBody>
      </p:sp>
      <p:sp>
        <p:nvSpPr>
          <p:cNvPr id="12" name="Text 10"/>
          <p:cNvSpPr/>
          <p:nvPr/>
        </p:nvSpPr>
        <p:spPr>
          <a:xfrm>
            <a:off x="5212080" y="3090672"/>
            <a:ext cx="6172200" cy="822960"/>
          </a:xfrm>
          <a:prstGeom prst="rect">
            <a:avLst/>
          </a:prstGeom>
          <a:noFill/>
          <a:ln/>
        </p:spPr>
        <p:txBody>
          <a:bodyPr wrap="square" lIns="0" tIns="0" rIns="0" bIns="0" rtlCol="0" anchor="ctr"/>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Bibliothèques, modèles, jeux de données publics et outils d’IA sont admis, à condition d’être cités dans le pitch et le README.</a:t>
            </a:r>
            <a:endParaRPr lang="en-US" sz="1250" dirty="0"/>
          </a:p>
        </p:txBody>
      </p:sp>
      <p:sp>
        <p:nvSpPr>
          <p:cNvPr id="13" name="Shape 11"/>
          <p:cNvSpPr/>
          <p:nvPr/>
        </p:nvSpPr>
        <p:spPr>
          <a:xfrm>
            <a:off x="658368" y="4023360"/>
            <a:ext cx="10881360" cy="822960"/>
          </a:xfrm>
          <a:prstGeom prst="rect">
            <a:avLst/>
          </a:prstGeom>
          <a:solidFill>
            <a:srgbClr val="EDF1F8"/>
          </a:solidFill>
          <a:ln w="9525">
            <a:solidFill>
              <a:srgbClr val="DCE2EE"/>
            </a:solidFill>
            <a:prstDash val="solid"/>
          </a:ln>
        </p:spPr>
      </p:sp>
      <p:sp>
        <p:nvSpPr>
          <p:cNvPr id="14" name="Shape 12"/>
          <p:cNvSpPr/>
          <p:nvPr/>
        </p:nvSpPr>
        <p:spPr>
          <a:xfrm>
            <a:off x="658368" y="4023360"/>
            <a:ext cx="82296" cy="822960"/>
          </a:xfrm>
          <a:prstGeom prst="rect">
            <a:avLst/>
          </a:prstGeom>
          <a:solidFill>
            <a:srgbClr val="B51F24"/>
          </a:solidFill>
          <a:ln/>
        </p:spPr>
      </p:sp>
      <p:sp>
        <p:nvSpPr>
          <p:cNvPr id="15" name="Text 13"/>
          <p:cNvSpPr/>
          <p:nvPr/>
        </p:nvSpPr>
        <p:spPr>
          <a:xfrm>
            <a:off x="969264" y="4023360"/>
            <a:ext cx="4114800" cy="822960"/>
          </a:xfrm>
          <a:prstGeom prst="rect">
            <a:avLst/>
          </a:prstGeom>
          <a:noFill/>
          <a:ln/>
        </p:spPr>
        <p:txBody>
          <a:bodyPr wrap="square" lIns="0" tIns="0" rIns="0" bIns="0" rtlCol="0" anchor="ctr"/>
          <a:lstStyle/>
          <a:p>
            <a:pPr marL="0" indent="0">
              <a:buNone/>
            </a:pPr>
            <a:r>
              <a:rPr lang="en-US" sz="1350" b="1" dirty="0">
                <a:solidFill>
                  <a:srgbClr val="B51F24"/>
                </a:solidFill>
                <a:latin typeface="Century Gothic" pitchFamily="34" charset="0"/>
                <a:ea typeface="Century Gothic" pitchFamily="34" charset="-122"/>
                <a:cs typeface="Century Gothic" pitchFamily="34" charset="-120"/>
              </a:rPr>
              <a:t>Aucune donnée personnelle réelle</a:t>
            </a:r>
            <a:endParaRPr lang="en-US" sz="1350" dirty="0"/>
          </a:p>
        </p:txBody>
      </p:sp>
      <p:sp>
        <p:nvSpPr>
          <p:cNvPr id="16" name="Text 14"/>
          <p:cNvSpPr/>
          <p:nvPr/>
        </p:nvSpPr>
        <p:spPr>
          <a:xfrm>
            <a:off x="5212080" y="4023360"/>
            <a:ext cx="6172200" cy="822960"/>
          </a:xfrm>
          <a:prstGeom prst="rect">
            <a:avLst/>
          </a:prstGeom>
          <a:noFill/>
          <a:ln/>
        </p:spPr>
        <p:txBody>
          <a:bodyPr wrap="square" lIns="0" tIns="0" rIns="0" bIns="0" rtlCol="0" anchor="ctr"/>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Ni fichier client, ni extraction d’un système existant, ni donnée nominative. Cette règle ne souffre pas d’exception.</a:t>
            </a:r>
            <a:endParaRPr lang="en-US" sz="1250" dirty="0"/>
          </a:p>
        </p:txBody>
      </p:sp>
      <p:sp>
        <p:nvSpPr>
          <p:cNvPr id="17" name="Shape 15"/>
          <p:cNvSpPr/>
          <p:nvPr/>
        </p:nvSpPr>
        <p:spPr>
          <a:xfrm>
            <a:off x="658368" y="4956048"/>
            <a:ext cx="10881360" cy="822960"/>
          </a:xfrm>
          <a:prstGeom prst="rect">
            <a:avLst/>
          </a:prstGeom>
          <a:solidFill>
            <a:srgbClr val="FFFFFF"/>
          </a:solidFill>
          <a:ln w="9525">
            <a:solidFill>
              <a:srgbClr val="DCE2EE"/>
            </a:solidFill>
            <a:prstDash val="solid"/>
          </a:ln>
        </p:spPr>
      </p:sp>
      <p:sp>
        <p:nvSpPr>
          <p:cNvPr id="18" name="Shape 16"/>
          <p:cNvSpPr/>
          <p:nvPr/>
        </p:nvSpPr>
        <p:spPr>
          <a:xfrm>
            <a:off x="658368" y="4956048"/>
            <a:ext cx="82296" cy="822960"/>
          </a:xfrm>
          <a:prstGeom prst="rect">
            <a:avLst/>
          </a:prstGeom>
          <a:solidFill>
            <a:srgbClr val="E8B305"/>
          </a:solidFill>
          <a:ln/>
        </p:spPr>
      </p:sp>
      <p:sp>
        <p:nvSpPr>
          <p:cNvPr id="19" name="Text 17"/>
          <p:cNvSpPr/>
          <p:nvPr/>
        </p:nvSpPr>
        <p:spPr>
          <a:xfrm>
            <a:off x="969264" y="4956048"/>
            <a:ext cx="4114800" cy="822960"/>
          </a:xfrm>
          <a:prstGeom prst="rect">
            <a:avLst/>
          </a:prstGeom>
          <a:noFill/>
          <a:ln/>
        </p:spPr>
        <p:txBody>
          <a:bodyPr wrap="square" lIns="0" tIns="0" rIns="0" bIns="0" rtlCol="0" anchor="ctr"/>
          <a:lstStyle/>
          <a:p>
            <a:pPr marL="0" indent="0">
              <a:buNone/>
            </a:pPr>
            <a:r>
              <a:rPr lang="en-US" sz="1350" b="1" dirty="0">
                <a:solidFill>
                  <a:srgbClr val="E8B305"/>
                </a:solidFill>
                <a:latin typeface="Century Gothic" pitchFamily="34" charset="0"/>
                <a:ea typeface="Century Gothic" pitchFamily="34" charset="-122"/>
                <a:cs typeface="Century Gothic" pitchFamily="34" charset="-120"/>
              </a:rPr>
              <a:t>Respect entre équipes et avec l’organisation</a:t>
            </a:r>
            <a:endParaRPr lang="en-US" sz="1350" dirty="0"/>
          </a:p>
        </p:txBody>
      </p:sp>
      <p:sp>
        <p:nvSpPr>
          <p:cNvPr id="20" name="Text 18"/>
          <p:cNvSpPr/>
          <p:nvPr/>
        </p:nvSpPr>
        <p:spPr>
          <a:xfrm>
            <a:off x="5212080" y="4956048"/>
            <a:ext cx="6172200" cy="822960"/>
          </a:xfrm>
          <a:prstGeom prst="rect">
            <a:avLst/>
          </a:prstGeom>
          <a:noFill/>
          <a:ln/>
        </p:spPr>
        <p:txBody>
          <a:bodyPr wrap="square" lIns="0" tIns="0" rIns="0" bIns="0" rtlCol="0" anchor="ctr"/>
          <a:lstStyle/>
          <a:p>
            <a:pPr marL="0" indent="0">
              <a:lnSpc>
                <a:spcPts val="1700"/>
              </a:lnSpc>
              <a:buNone/>
            </a:pPr>
            <a:r>
              <a:rPr lang="en-US" sz="1250" dirty="0">
                <a:solidFill>
                  <a:srgbClr val="231F20"/>
                </a:solidFill>
                <a:latin typeface="Calibri" pitchFamily="34" charset="0"/>
                <a:ea typeface="Calibri" pitchFamily="34" charset="-122"/>
                <a:cs typeface="Calibri" pitchFamily="34" charset="-120"/>
              </a:rPr>
              <a:t>Un référent médiation est désigné sur site pour toute tension. Saisissez-le tôt plutôt que tard.</a:t>
            </a:r>
            <a:endParaRPr lang="en-US" sz="1250" dirty="0"/>
          </a:p>
        </p:txBody>
      </p:sp>
      <p:sp>
        <p:nvSpPr>
          <p:cNvPr id="21" name="Text 19"/>
          <p:cNvSpPr/>
          <p:nvPr/>
        </p:nvSpPr>
        <p:spPr>
          <a:xfrm>
            <a:off x="658368" y="5888736"/>
            <a:ext cx="10881360" cy="365760"/>
          </a:xfrm>
          <a:prstGeom prst="rect">
            <a:avLst/>
          </a:prstGeom>
          <a:noFill/>
          <a:ln/>
        </p:spPr>
        <p:txBody>
          <a:bodyPr wrap="square" lIns="0" tIns="0" rIns="0" bIns="0" rtlCol="0" anchor="ctr"/>
          <a:lstStyle/>
          <a:p>
            <a:pPr marL="0" indent="0">
              <a:buNone/>
            </a:pPr>
            <a:r>
              <a:rPr lang="en-US" sz="1200" b="1" dirty="0">
                <a:solidFill>
                  <a:srgbClr val="B51F24"/>
                </a:solidFill>
                <a:latin typeface="Calibri" pitchFamily="34" charset="0"/>
                <a:ea typeface="Calibri" pitchFamily="34" charset="-122"/>
                <a:cs typeface="Calibri" pitchFamily="34" charset="-120"/>
              </a:rPr>
              <a:t>Le manquement à ces règles est apprécié par l’organisation et peut conduire à l’exclusion de l’équipe.</a:t>
            </a:r>
            <a:endParaRPr lang="en-US" sz="1200" dirty="0"/>
          </a:p>
        </p:txBody>
      </p:sp>
      <p:sp>
        <p:nvSpPr>
          <p:cNvPr id="22" name="Text 20"/>
          <p:cNvSpPr/>
          <p:nvPr/>
        </p:nvSpPr>
        <p:spPr>
          <a:xfrm>
            <a:off x="658368" y="6345936"/>
            <a:ext cx="7863840" cy="292608"/>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Hackathon National d’Innovation CIF  ·  DigiCoop-WA+ 2026</a:t>
            </a:r>
            <a:endParaRPr lang="en-US" sz="950" dirty="0"/>
          </a:p>
        </p:txBody>
      </p:sp>
      <p:sp>
        <p:nvSpPr>
          <p:cNvPr id="23" name="Text 21"/>
          <p:cNvSpPr/>
          <p:nvPr/>
        </p:nvSpPr>
        <p:spPr>
          <a:xfrm>
            <a:off x="11228832" y="6345936"/>
            <a:ext cx="310896" cy="292608"/>
          </a:xfrm>
          <a:prstGeom prst="rect">
            <a:avLst/>
          </a:prstGeom>
          <a:noFill/>
          <a:ln/>
        </p:spPr>
        <p:txBody>
          <a:bodyPr wrap="square" lIns="0" tIns="0" rIns="0" bIns="0" rtlCol="0" anchor="ctr"/>
          <a:lstStyle/>
          <a:p>
            <a:pPr marL="0" indent="0" algn="r">
              <a:buNone/>
            </a:pPr>
            <a:r>
              <a:rPr lang="en-US" sz="1100" b="1" dirty="0">
                <a:solidFill>
                  <a:srgbClr val="22438F"/>
                </a:solidFill>
                <a:latin typeface="Century Gothic" pitchFamily="34" charset="0"/>
                <a:ea typeface="Century Gothic" pitchFamily="34" charset="-122"/>
                <a:cs typeface="Century Gothic" pitchFamily="34" charset="-120"/>
              </a:rPr>
              <a:t>16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1629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32A849"/>
          </a:solidFill>
          <a:ln/>
        </p:spPr>
      </p:sp>
      <p:sp>
        <p:nvSpPr>
          <p:cNvPr id="3" name="Text 1"/>
          <p:cNvSpPr/>
          <p:nvPr/>
        </p:nvSpPr>
        <p:spPr>
          <a:xfrm>
            <a:off x="822960" y="1188720"/>
            <a:ext cx="10515600" cy="365760"/>
          </a:xfrm>
          <a:prstGeom prst="rect">
            <a:avLst/>
          </a:prstGeom>
          <a:noFill/>
          <a:ln/>
        </p:spPr>
        <p:txBody>
          <a:bodyPr wrap="square" lIns="0" tIns="0" rIns="0" bIns="0" rtlCol="0" anchor="ctr"/>
          <a:lstStyle/>
          <a:p>
            <a:pPr marL="0" indent="0">
              <a:buNone/>
            </a:pPr>
            <a:r>
              <a:rPr lang="en-US" sz="1300" b="1" kern="0" spc="240" dirty="0">
                <a:solidFill>
                  <a:srgbClr val="32A849"/>
                </a:solidFill>
                <a:latin typeface="Century Gothic" pitchFamily="34" charset="0"/>
                <a:ea typeface="Century Gothic" pitchFamily="34" charset="-122"/>
                <a:cs typeface="Century Gothic" pitchFamily="34" charset="-120"/>
              </a:rPr>
              <a:t>MAINTENANT</a:t>
            </a:r>
            <a:endParaRPr lang="en-US" sz="1300" dirty="0"/>
          </a:p>
        </p:txBody>
      </p:sp>
      <p:sp>
        <p:nvSpPr>
          <p:cNvPr id="4" name="Text 2"/>
          <p:cNvSpPr/>
          <p:nvPr/>
        </p:nvSpPr>
        <p:spPr>
          <a:xfrm>
            <a:off x="822960" y="1645920"/>
            <a:ext cx="10515600" cy="1097280"/>
          </a:xfrm>
          <a:prstGeom prst="rect">
            <a:avLst/>
          </a:prstGeom>
          <a:noFill/>
          <a:ln/>
        </p:spPr>
        <p:txBody>
          <a:bodyPr wrap="square" lIns="0" tIns="0" rIns="0" bIns="0" rtlCol="0" anchor="ctr"/>
          <a:lstStyle/>
          <a:p>
            <a:pPr marL="0" indent="0">
              <a:buNone/>
            </a:pPr>
            <a:r>
              <a:rPr lang="en-US" sz="5200" b="1" dirty="0">
                <a:solidFill>
                  <a:srgbClr val="FFFFFF"/>
                </a:solidFill>
                <a:latin typeface="Century Gothic" pitchFamily="34" charset="0"/>
                <a:ea typeface="Century Gothic" pitchFamily="34" charset="-122"/>
                <a:cs typeface="Century Gothic" pitchFamily="34" charset="-120"/>
              </a:rPr>
              <a:t>Vos questions</a:t>
            </a:r>
            <a:endParaRPr lang="en-US" sz="5200" dirty="0"/>
          </a:p>
        </p:txBody>
      </p:sp>
      <p:sp>
        <p:nvSpPr>
          <p:cNvPr id="5" name="Text 3"/>
          <p:cNvSpPr/>
          <p:nvPr/>
        </p:nvSpPr>
        <p:spPr>
          <a:xfrm>
            <a:off x="822960" y="2834640"/>
            <a:ext cx="7863840" cy="731520"/>
          </a:xfrm>
          <a:prstGeom prst="rect">
            <a:avLst/>
          </a:prstGeom>
          <a:noFill/>
          <a:ln/>
        </p:spPr>
        <p:txBody>
          <a:bodyPr wrap="square" lIns="0" tIns="0" rIns="0" bIns="0" rtlCol="0" anchor="t"/>
          <a:lstStyle/>
          <a:p>
            <a:pPr marL="0" indent="0">
              <a:lnSpc>
                <a:spcPts val="2400"/>
              </a:lnSpc>
              <a:buNone/>
            </a:pPr>
            <a:r>
              <a:rPr lang="en-US" sz="1600" dirty="0">
                <a:solidFill>
                  <a:srgbClr val="C6D2EC"/>
                </a:solidFill>
                <a:latin typeface="Calibri" pitchFamily="34" charset="0"/>
                <a:ea typeface="Calibri" pitchFamily="34" charset="-122"/>
                <a:cs typeface="Calibri" pitchFamily="34" charset="-120"/>
              </a:rPr>
              <a:t>Les experts métier de la CIF répondent en séance. Ce qui ne se tranche pas maintenant sera traité dans la journée et rappelé au checkpoint de 18h00.</a:t>
            </a:r>
            <a:endParaRPr lang="en-US" sz="1600" dirty="0"/>
          </a:p>
        </p:txBody>
      </p:sp>
      <p:sp>
        <p:nvSpPr>
          <p:cNvPr id="6" name="Shape 4"/>
          <p:cNvSpPr/>
          <p:nvPr/>
        </p:nvSpPr>
        <p:spPr>
          <a:xfrm>
            <a:off x="822960" y="3931920"/>
            <a:ext cx="54864" cy="786384"/>
          </a:xfrm>
          <a:prstGeom prst="rect">
            <a:avLst/>
          </a:prstGeom>
          <a:solidFill>
            <a:srgbClr val="E8B305"/>
          </a:solidFill>
          <a:ln/>
        </p:spPr>
      </p:sp>
      <p:sp>
        <p:nvSpPr>
          <p:cNvPr id="7" name="Text 5"/>
          <p:cNvSpPr/>
          <p:nvPr/>
        </p:nvSpPr>
        <p:spPr>
          <a:xfrm>
            <a:off x="1060704" y="3931920"/>
            <a:ext cx="4937760" cy="384048"/>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Organisation sur site</a:t>
            </a:r>
            <a:endParaRPr lang="en-US" sz="1300" dirty="0"/>
          </a:p>
        </p:txBody>
      </p:sp>
      <p:sp>
        <p:nvSpPr>
          <p:cNvPr id="8" name="Text 6"/>
          <p:cNvSpPr/>
          <p:nvPr/>
        </p:nvSpPr>
        <p:spPr>
          <a:xfrm>
            <a:off x="1060704" y="4297680"/>
            <a:ext cx="4937760" cy="384048"/>
          </a:xfrm>
          <a:prstGeom prst="rect">
            <a:avLst/>
          </a:prstGeom>
          <a:noFill/>
          <a:ln/>
        </p:spPr>
        <p:txBody>
          <a:bodyPr wrap="square" lIns="0" tIns="0" rIns="0" bIns="0" rtlCol="0" anchor="ctr"/>
          <a:lstStyle/>
          <a:p>
            <a:pPr marL="0" indent="0">
              <a:buNone/>
            </a:pPr>
            <a:r>
              <a:rPr lang="en-US" sz="1250" dirty="0">
                <a:solidFill>
                  <a:srgbClr val="9FB2D8"/>
                </a:solidFill>
                <a:latin typeface="Calibri" pitchFamily="34" charset="0"/>
                <a:ea typeface="Calibri" pitchFamily="34" charset="-122"/>
                <a:cs typeface="Calibri" pitchFamily="34" charset="-120"/>
              </a:rPr>
              <a:t>Équipe Switch Maker, badges ORGANISATION</a:t>
            </a:r>
            <a:endParaRPr lang="en-US" sz="1250" dirty="0"/>
          </a:p>
        </p:txBody>
      </p:sp>
      <p:sp>
        <p:nvSpPr>
          <p:cNvPr id="9" name="Shape 7"/>
          <p:cNvSpPr/>
          <p:nvPr/>
        </p:nvSpPr>
        <p:spPr>
          <a:xfrm>
            <a:off x="6217920" y="3931920"/>
            <a:ext cx="54864" cy="786384"/>
          </a:xfrm>
          <a:prstGeom prst="rect">
            <a:avLst/>
          </a:prstGeom>
          <a:solidFill>
            <a:srgbClr val="E8B305"/>
          </a:solidFill>
          <a:ln/>
        </p:spPr>
      </p:sp>
      <p:sp>
        <p:nvSpPr>
          <p:cNvPr id="10" name="Text 8"/>
          <p:cNvSpPr/>
          <p:nvPr/>
        </p:nvSpPr>
        <p:spPr>
          <a:xfrm>
            <a:off x="6455664" y="3931920"/>
            <a:ext cx="4937760" cy="384048"/>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Questions métier et thématiques</a:t>
            </a:r>
            <a:endParaRPr lang="en-US" sz="1300" dirty="0"/>
          </a:p>
        </p:txBody>
      </p:sp>
      <p:sp>
        <p:nvSpPr>
          <p:cNvPr id="11" name="Text 9"/>
          <p:cNvSpPr/>
          <p:nvPr/>
        </p:nvSpPr>
        <p:spPr>
          <a:xfrm>
            <a:off x="6455664" y="4297680"/>
            <a:ext cx="4937760" cy="384048"/>
          </a:xfrm>
          <a:prstGeom prst="rect">
            <a:avLst/>
          </a:prstGeom>
          <a:noFill/>
          <a:ln/>
        </p:spPr>
        <p:txBody>
          <a:bodyPr wrap="square" lIns="0" tIns="0" rIns="0" bIns="0" rtlCol="0" anchor="ctr"/>
          <a:lstStyle/>
          <a:p>
            <a:pPr marL="0" indent="0">
              <a:buNone/>
            </a:pPr>
            <a:r>
              <a:rPr lang="en-US" sz="1250" dirty="0">
                <a:solidFill>
                  <a:srgbClr val="9FB2D8"/>
                </a:solidFill>
                <a:latin typeface="Calibri" pitchFamily="34" charset="0"/>
                <a:ea typeface="Calibri" pitchFamily="34" charset="-122"/>
                <a:cs typeface="Calibri" pitchFamily="34" charset="-120"/>
              </a:rPr>
              <a:t>Experts </a:t>
            </a:r>
            <a:r>
              <a:rPr lang="en-US" sz="1250" dirty="0" err="1">
                <a:solidFill>
                  <a:srgbClr val="9FB2D8"/>
                </a:solidFill>
                <a:latin typeface="Calibri" pitchFamily="34" charset="0"/>
                <a:ea typeface="Calibri" pitchFamily="34" charset="-122"/>
                <a:cs typeface="Calibri" pitchFamily="34" charset="-120"/>
              </a:rPr>
              <a:t>présents</a:t>
            </a:r>
            <a:r>
              <a:rPr lang="en-US" sz="1250" dirty="0">
                <a:solidFill>
                  <a:srgbClr val="9FB2D8"/>
                </a:solidFill>
                <a:latin typeface="Calibri" pitchFamily="34" charset="0"/>
                <a:ea typeface="Calibri" pitchFamily="34" charset="-122"/>
                <a:cs typeface="Calibri" pitchFamily="34" charset="-120"/>
              </a:rPr>
              <a:t> dans la salle</a:t>
            </a:r>
            <a:endParaRPr lang="en-US" sz="1250" dirty="0"/>
          </a:p>
        </p:txBody>
      </p:sp>
      <p:sp>
        <p:nvSpPr>
          <p:cNvPr id="12" name="Shape 10"/>
          <p:cNvSpPr/>
          <p:nvPr/>
        </p:nvSpPr>
        <p:spPr>
          <a:xfrm>
            <a:off x="822960" y="4901184"/>
            <a:ext cx="54864" cy="786384"/>
          </a:xfrm>
          <a:prstGeom prst="rect">
            <a:avLst/>
          </a:prstGeom>
          <a:solidFill>
            <a:srgbClr val="E8B305"/>
          </a:solidFill>
          <a:ln/>
        </p:spPr>
      </p:sp>
      <p:sp>
        <p:nvSpPr>
          <p:cNvPr id="13" name="Text 11"/>
          <p:cNvSpPr/>
          <p:nvPr/>
        </p:nvSpPr>
        <p:spPr>
          <a:xfrm>
            <a:off x="1060704" y="4901184"/>
            <a:ext cx="4937760" cy="384048"/>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Questions techniques</a:t>
            </a:r>
            <a:endParaRPr lang="en-US" sz="1300" dirty="0"/>
          </a:p>
        </p:txBody>
      </p:sp>
      <p:sp>
        <p:nvSpPr>
          <p:cNvPr id="14" name="Text 12"/>
          <p:cNvSpPr/>
          <p:nvPr/>
        </p:nvSpPr>
        <p:spPr>
          <a:xfrm>
            <a:off x="1060704" y="5266944"/>
            <a:ext cx="4937760" cy="384048"/>
          </a:xfrm>
          <a:prstGeom prst="rect">
            <a:avLst/>
          </a:prstGeom>
          <a:noFill/>
          <a:ln/>
        </p:spPr>
        <p:txBody>
          <a:bodyPr wrap="square" lIns="0" tIns="0" rIns="0" bIns="0" rtlCol="0" anchor="ctr"/>
          <a:lstStyle/>
          <a:p>
            <a:pPr marL="0" indent="0">
              <a:buNone/>
            </a:pPr>
            <a:r>
              <a:rPr lang="en-US" sz="1250" dirty="0">
                <a:solidFill>
                  <a:srgbClr val="9FB2D8"/>
                </a:solidFill>
                <a:latin typeface="Calibri" pitchFamily="34" charset="0"/>
                <a:ea typeface="Calibri" pitchFamily="34" charset="-122"/>
                <a:cs typeface="Calibri" pitchFamily="34" charset="-120"/>
              </a:rPr>
              <a:t>Mentors</a:t>
            </a:r>
            <a:endParaRPr lang="en-US" sz="1250" dirty="0"/>
          </a:p>
        </p:txBody>
      </p:sp>
      <p:sp>
        <p:nvSpPr>
          <p:cNvPr id="15" name="Shape 13"/>
          <p:cNvSpPr/>
          <p:nvPr/>
        </p:nvSpPr>
        <p:spPr>
          <a:xfrm>
            <a:off x="6217920" y="4901184"/>
            <a:ext cx="54864" cy="786384"/>
          </a:xfrm>
          <a:prstGeom prst="rect">
            <a:avLst/>
          </a:prstGeom>
          <a:solidFill>
            <a:srgbClr val="E8B305"/>
          </a:solidFill>
          <a:ln/>
        </p:spPr>
      </p:sp>
      <p:sp>
        <p:nvSpPr>
          <p:cNvPr id="16" name="Text 14"/>
          <p:cNvSpPr/>
          <p:nvPr/>
        </p:nvSpPr>
        <p:spPr>
          <a:xfrm>
            <a:off x="6455664" y="4901184"/>
            <a:ext cx="4937760" cy="384048"/>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Écrire à l’organisation</a:t>
            </a:r>
            <a:endParaRPr lang="en-US" sz="1300" dirty="0"/>
          </a:p>
        </p:txBody>
      </p:sp>
      <p:sp>
        <p:nvSpPr>
          <p:cNvPr id="17" name="Text 15"/>
          <p:cNvSpPr/>
          <p:nvPr/>
        </p:nvSpPr>
        <p:spPr>
          <a:xfrm>
            <a:off x="6455664" y="5266944"/>
            <a:ext cx="4937760" cy="384048"/>
          </a:xfrm>
          <a:prstGeom prst="rect">
            <a:avLst/>
          </a:prstGeom>
          <a:noFill/>
          <a:ln/>
        </p:spPr>
        <p:txBody>
          <a:bodyPr wrap="square" lIns="0" tIns="0" rIns="0" bIns="0" rtlCol="0" anchor="ctr"/>
          <a:lstStyle/>
          <a:p>
            <a:pPr marL="0" indent="0">
              <a:buNone/>
            </a:pPr>
            <a:r>
              <a:rPr lang="en-US" sz="1250" dirty="0">
                <a:solidFill>
                  <a:srgbClr val="9FB2D8"/>
                </a:solidFill>
                <a:latin typeface="Calibri" pitchFamily="34" charset="0"/>
                <a:ea typeface="Calibri" pitchFamily="34" charset="-122"/>
                <a:cs typeface="Calibri" pitchFamily="34" charset="-120"/>
              </a:rPr>
              <a:t>digicoop-wa@cif-ao.org</a:t>
            </a:r>
            <a:endParaRPr lang="en-US" sz="1250" dirty="0"/>
          </a:p>
        </p:txBody>
      </p:sp>
      <p:sp>
        <p:nvSpPr>
          <p:cNvPr id="18" name="Shape 16"/>
          <p:cNvSpPr/>
          <p:nvPr/>
        </p:nvSpPr>
        <p:spPr>
          <a:xfrm>
            <a:off x="0" y="6144768"/>
            <a:ext cx="12191695" cy="713232"/>
          </a:xfrm>
          <a:prstGeom prst="rect">
            <a:avLst/>
          </a:prstGeom>
          <a:solidFill>
            <a:srgbClr val="0F1F45"/>
          </a:solidFill>
          <a:ln/>
        </p:spPr>
      </p:sp>
      <p:sp>
        <p:nvSpPr>
          <p:cNvPr id="19" name="Text 17"/>
          <p:cNvSpPr/>
          <p:nvPr/>
        </p:nvSpPr>
        <p:spPr>
          <a:xfrm>
            <a:off x="822960" y="6144768"/>
            <a:ext cx="10515600" cy="713232"/>
          </a:xfrm>
          <a:prstGeom prst="rect">
            <a:avLst/>
          </a:prstGeom>
          <a:noFill/>
          <a:ln/>
        </p:spPr>
        <p:txBody>
          <a:bodyPr wrap="square" lIns="0" tIns="0" rIns="0" bIns="0" rtlCol="0" anchor="ctr"/>
          <a:lstStyle/>
          <a:p>
            <a:pPr marL="0" indent="0">
              <a:buNone/>
            </a:pPr>
            <a:r>
              <a:rPr lang="en-US" sz="1400" b="1" dirty="0">
                <a:solidFill>
                  <a:srgbClr val="32A849"/>
                </a:solidFill>
                <a:latin typeface="Century Gothic" pitchFamily="34" charset="0"/>
                <a:ea typeface="Century Gothic" pitchFamily="34" charset="-122"/>
                <a:cs typeface="Century Gothic" pitchFamily="34" charset="-120"/>
              </a:rPr>
              <a:t>Bon hackathon. Rendez-vous à 11h00 pour le module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1889</Words>
  <Application>Microsoft Office PowerPoint</Application>
  <PresentationFormat>Widescreen</PresentationFormat>
  <Paragraphs>205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Confederation des Institutions Financieres d'Afrique de l'Ouest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CIF DigiCoop-WA+ : les regles du jeu</dc:title>
  <dc:subject>PptxGenJS Presentation</dc:subject>
  <dc:creator>Switch Maker</dc:creator>
  <cp:lastModifiedBy>Nathan TANKEU</cp:lastModifiedBy>
  <cp:revision>3</cp:revision>
  <dcterms:created xsi:type="dcterms:W3CDTF">2026-09-05T09:16:32Z</dcterms:created>
  <dcterms:modified xsi:type="dcterms:W3CDTF">2026-09-05T15:14:42Z</dcterms:modified>
</cp:coreProperties>
</file>